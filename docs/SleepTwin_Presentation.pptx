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png" ContentType="image/png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theme/theme2.xml" ContentType="application/vnd.openxmlformats-officedocument.theme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slides/slide1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presentation.xml" ContentType="application/vnd.openxmlformats-officedocument.presentationml.presentation.main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"/>
  </p:notes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</p:sldIdLst>
  <p:sldSz cx="12191695" cy="6858000"/>
  <p:notesSz cx="6858000" cy="9144000"/>
  <p:defaultTextStyle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srgbClr val="FF0000"/>
    </p:penClr>
  </p:showPr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>
        <p:scale>
          <a:sx n="100" d="100"/>
          <a:sy n="100" d="100"/>
        </p:scale>
        <p:origin x="0" y="0"/>
      </p:cViewPr>
      <p:guideLst>
        <p:guide orient="horz" pos="2160"/>
        <p:guide pos="2880"/>
      </p:guideLst>
    </p:cSldViewPr>
  </p:slideViewPr>
  <p:gridSpacing cx="76200" cy="762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slide" Target="slides/slide8.xml"/><Relationship Id="rId11" Type="http://schemas.openxmlformats.org/officeDocument/2006/relationships/slide" Target="slides/slide9.xml"/><Relationship Id="rId12" Type="http://schemas.openxmlformats.org/officeDocument/2006/relationships/slide" Target="slides/slide10.xml"/><Relationship Id="rId13" Type="http://schemas.openxmlformats.org/officeDocument/2006/relationships/slide" Target="slides/slide11.xml"/><Relationship Id="rId14" Type="http://schemas.openxmlformats.org/officeDocument/2006/relationships/slide" Target="slides/slide12.xml"/><Relationship Id="rId15" Type="http://schemas.openxmlformats.org/officeDocument/2006/relationships/slide" Target="slides/slide13.xml"/><Relationship Id="rId16" Type="http://schemas.openxmlformats.org/officeDocument/2006/relationships/slide" Target="slides/slide14.xml"/><Relationship Id="rId17" Type="http://schemas.openxmlformats.org/officeDocument/2006/relationships/theme" Target="theme/theme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998F326-38F9-40E9-844A-EC66DA56CEC0}" type="datetimeFigureOut">
              <a:rPr lang="en-US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44DB33E-DF1A-4DDD-8617-8BEBD58B3BBA}" type="slidenum">
              <a:rPr lang="en-US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/>
              <a:t>Introduce the team and the one-line idea.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/>
              <a:t>Smartwatches record sleep nightly but don't know the wearer's medical history.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/>
              <a:t>Top row: glucose path. Bottom row: blood-pressure path.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/>
              <a:t>A digital twin is a virtual copy of one patient, updated every day.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/>
              <a:t>Walk left to right: open data, virtual patients, twin brain, dashboard; then the What-If loop.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/>
              <a:t>Both streams required by the challenge are present.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/>
              <a:t>Use persona A to show the chain: sleep drops, insulin sensitivity drops, peaks cross 180.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/>
              <a:t>AUROC: chance the model ranks a real event above a quiet day.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/>
              <a:t>Uses current glucose, its trend, the last meal, last night's sleep and the health record.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/>
              <a:t>Each person is compared with themselves, not with others.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/>
              <a:t>All values come from the live What-If engine.</a:t>
            </a: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/>
              <a:t>Five pages: Patients, Overview, Trends, What-If, How It Works.</a:t>
            </a: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/>
              <a:t>Be upfront about what the prototype does not prove.</a:t>
            </a: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/>
              <a:t>Close with the one-liner.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395B21-E8EE-4505-87E0-7B7F2C3DBBD0}" type="datetimeFigureOut">
              <a:rPr lang="en-US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DC6D5D-A00E-4AA9-84F2-364CBECE0EEA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E609E6-1126-4CCC-8F95-892B304C12E9}" type="datetimeFigureOut">
              <a:rPr lang="en-US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CD0F9E-EF7E-4C26-8662-25A73F2263DD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3082BF-5467-4883-8896-824F7369BC9A}" type="datetimeFigureOut">
              <a:rPr lang="en-US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C18080-B33E-4073-8615-72D8F5AE8F78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A66248-C912-41CA-84D9-08E1C7982093}" type="datetimeFigureOut">
              <a:rPr lang="en-US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CB9569-04AF-4288-8880-64CE52ABE7A3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/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EFB636-F4D9-4299-85F9-44D23E27C49C}" type="datetimeFigureOut">
              <a:rPr lang="en-US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533E07-937E-4FED-8300-891295843456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CAC346-E4DF-45C0-848B-E2AC5513E0D5}" type="datetimeFigureOut">
              <a:rPr lang="en-US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28B55B-FA15-48BA-860D-0231187503D9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20B29E-DC2A-4D67-887F-3BE2DC8489D6}" type="datetimeFigureOut">
              <a:rPr lang="en-US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E0EBC0-ADA9-4FA7-889C-9287646BC794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C563BD-7186-488E-816C-8F41FA24179F}" type="datetimeFigureOut">
              <a:rPr lang="en-US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A25AB8-FB3A-479C-8780-0B7E5F586C0F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E02C48-70E8-4C8D-81F4-17FB598144B8}" type="datetimeFigureOut">
              <a:rPr lang="en-US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EFC29A-6C4F-4141-86E3-1A3E2D58E3A2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602B83-4DFE-444B-8222-D5FF1EA6B44C}" type="datetimeFigureOut">
              <a:rPr lang="en-US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19C649-D3E0-46CB-87C1-67136E4226A6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  <a:prstGeom prst="rect">
            <a:avLst/>
          </a:prstGeo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  <a:prstGeom prst="rect">
            <a:avLst/>
          </a:prstGeom>
        </p:spPr>
        <p:txBody>
          <a:bodyPr vert="eaVert"/>
          <a:lstStyle/>
          <a:p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FA40F9-1701-4EB4-806D-4ED861E7A003}" type="datetimeFigureOut">
              <a:rPr lang="en-US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EBE78A-EB3E-401E-81B5-D7F53201DAF3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Office Them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0ADADCF-DC63-475D-8D69-AEBF4EDF3BBC}" type="datetimeFigureOut">
              <a:rPr lang="en-US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73D6AB1-0FDA-49F1-8390-8828CE9E6676}" type="slidenum">
              <a:rPr lang="en-US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/Relationships>
</file>

<file path=ppt/slides/_rels/slide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png"/></Relationships>
</file>

<file path=ppt/slides/_rels/slide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3.png"/></Relationships>
</file>

<file path=ppt/slides/_rels/slide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4.png"/></Relationships>
</file>

<file path=ppt/slides/_rels/slide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5.png"/></Relationships>
</file>

<file path=ppt/slides/_rels/slide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6.png"/></Relationships>
</file>

<file path=ppt/slides/_rels/slide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7.png"/></Relationships>
</file>

<file path=ppt/slides/_rels/slide1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8.png"/></Relationships>
</file>

<file path=ppt/slides/_rels/slide1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9.png"/></Relationships>
</file>

<file path=ppt/slides/_rels/slide1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0.png"/><Relationship Id="rId4" Type="http://schemas.openxmlformats.org/officeDocument/2006/relationships/image" Target="../media/image11.png"/></Relationships>
</file>

<file path=ppt/slides/_rels/slide1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554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249680"/>
            <a:ext cx="105156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6600" b="1" i="0">
                <a:solidFill>
                  <a:srgbClr val="FFFFFF"/>
                </a:solidFill>
              </a:defRPr>
            </a:pPr>
            <a:r>
              <a:rPr/>
              <a:t>SleepTwin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438400"/>
            <a:ext cx="100584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0" i="0">
                <a:solidFill>
                  <a:srgbClr val="E6ECFF"/>
                </a:solidFill>
              </a:defRPr>
            </a:pPr>
            <a:r>
              <a:rPr/>
              <a:t>A sleep-driven digital twin that forecasts tomorrow's blood-sugar spike and morning BP surge for people with Type 2 Diabetes and Hypertension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3962400"/>
            <a:ext cx="10515600" cy="335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 i="0">
                <a:solidFill>
                  <a:srgbClr val="FFFFFF"/>
                </a:solidFill>
              </a:defRPr>
            </a:pPr>
            <a:r>
              <a:rPr/>
              <a:t>Team WeBareBears  ·  PCCOE  ·  Happiest Health Digital Twin Challenge 2026 - Phase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576072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0" i="1">
                <a:solidFill>
                  <a:srgbClr val="C9D6FF"/>
                </a:solidFill>
              </a:defRPr>
            </a:pPr>
            <a:r>
              <a:rPr/>
              <a:t>Model-based projection for clinical decision support. Research prototype.</a:t>
            </a:r>
          </a:p>
        </p:txBody>
      </p:sp>
      <p:sp>
        <p:nvSpPr>
          <p:cNvPr id="62" name="TextBox 7"/>
          <p:cNvSpPr txBox="1"/>
          <p:nvPr/>
        </p:nvSpPr>
        <p:spPr>
          <a:xfrm>
            <a:off x="822960" y="4343400"/>
            <a:ext cx="2551270" cy="8229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28600" indent="-228600">
              <a:buChar char="•"/>
            </a:pPr>
            <a:r>
              <a:rPr sz="1600" b="1">
                <a:solidFill>
                  <a:schemeClr val="bg1"/>
                </a:solidFill>
              </a:rPr>
              <a:t>Swati Sharma</a:t>
            </a:r>
            <a:endParaRPr sz="1600" b="1">
              <a:solidFill>
                <a:schemeClr val="bg1"/>
              </a:solidFill>
            </a:endParaRPr>
          </a:p>
          <a:p>
            <a:pPr marL="228600" indent="-228600">
              <a:buChar char="•"/>
            </a:pPr>
            <a:r>
              <a:rPr sz="1600" b="1">
                <a:solidFill>
                  <a:schemeClr val="bg1"/>
                </a:solidFill>
              </a:rPr>
              <a:t>Rohan Paramanand</a:t>
            </a:r>
            <a:endParaRPr sz="1600" b="1">
              <a:solidFill>
                <a:schemeClr val="bg1"/>
              </a:solidFill>
            </a:endParaRPr>
          </a:p>
          <a:p>
            <a:pPr marL="228600" indent="-228600">
              <a:buChar char="•"/>
            </a:pPr>
            <a:r>
              <a:rPr sz="1600" b="1">
                <a:solidFill>
                  <a:schemeClr val="bg1"/>
                </a:solidFill>
              </a:rPr>
              <a:t>Chirag Gajare</a:t>
            </a:r>
            <a:endParaRPr sz="1600" b="1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2554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11155680" cy="518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 i="0">
                <a:solidFill>
                  <a:srgbClr val="0F172A"/>
                </a:solidFill>
              </a:defRPr>
            </a:pPr>
            <a:r>
              <a:rPr/>
              <a:t>The problem: A Blind Spot between visits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19088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 i="0">
                <a:solidFill>
                  <a:srgbClr val="64748B"/>
                </a:solidFill>
              </a:defRPr>
            </a:pPr>
            <a:r>
              <a:rPr/>
              <a:t>SleepTwin · Team WeBareBears · PCCOE · all patient data simulated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6419088"/>
            <a:ext cx="548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 i="0">
                <a:solidFill>
                  <a:srgbClr val="64748B"/>
                </a:solidFill>
              </a:defRPr>
            </a:pPr>
            <a:r>
              <a:rPr/>
              <a:t>2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143000"/>
            <a:ext cx="3520440" cy="1325880"/>
          </a:xfrm>
          <a:prstGeom prst="roundRect">
            <a:avLst/>
          </a:prstGeom>
          <a:solidFill>
            <a:srgbClr val="E8E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252728"/>
            <a:ext cx="31089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400" b="1" i="0">
                <a:solidFill>
                  <a:srgbClr val="2554E8"/>
                </a:solidFill>
              </a:defRPr>
            </a:pPr>
            <a:r>
              <a:rPr/>
              <a:t>~101 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1920240"/>
            <a:ext cx="31089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0" i="0">
                <a:solidFill>
                  <a:srgbClr val="475569"/>
                </a:solidFill>
              </a:defRPr>
            </a:pPr>
            <a:r>
              <a:rPr/>
              <a:t>people with diabetes in India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297679" y="1143000"/>
            <a:ext cx="3520440" cy="1325880"/>
          </a:xfrm>
          <a:prstGeom prst="roundRect">
            <a:avLst/>
          </a:prstGeom>
          <a:solidFill>
            <a:srgbClr val="E8E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26279" y="1252728"/>
            <a:ext cx="31089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400" b="1" i="0">
                <a:solidFill>
                  <a:srgbClr val="2554E8"/>
                </a:solidFill>
              </a:defRPr>
            </a:pPr>
            <a:r>
              <a:rPr/>
              <a:t>~315 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26279" y="1920240"/>
            <a:ext cx="31089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0" i="0">
                <a:solidFill>
                  <a:srgbClr val="475569"/>
                </a:solidFill>
              </a:defRPr>
            </a:pPr>
            <a:r>
              <a:rPr/>
              <a:t>people with hypertension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46719" y="1143000"/>
            <a:ext cx="3520440" cy="1325880"/>
          </a:xfrm>
          <a:prstGeom prst="roundRect">
            <a:avLst/>
          </a:prstGeom>
          <a:solidFill>
            <a:srgbClr val="E8E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75319" y="1252728"/>
            <a:ext cx="31089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400" b="1" i="0">
                <a:solidFill>
                  <a:srgbClr val="2554E8"/>
                </a:solidFill>
              </a:defRPr>
            </a:pPr>
            <a:r>
              <a:rPr/>
              <a:t>~15 min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75319" y="1920240"/>
            <a:ext cx="31089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0" i="0">
                <a:solidFill>
                  <a:srgbClr val="475569"/>
                </a:solidFill>
              </a:defRPr>
            </a:pPr>
            <a:r>
              <a:rPr/>
              <a:t>with a doctor every few months</a:t>
            </a:r>
          </a:p>
        </p:txBody>
      </p:sp>
      <p:pic>
        <p:nvPicPr>
          <p:cNvPr id="15" name="Picture 14" descr="blind_spot.png"/>
          <p:cNvPicPr>
            <a:picLocks noChangeAspect="1"/>
          </p:cNvPicPr>
          <p:nvPr/>
        </p:nvPicPr>
        <p:blipFill rotWithShape="1">
          <a:blip r:embed="rId3"/>
          <a:stretch>
            <a:fillRect/>
          </a:stretch>
        </p:blipFill>
        <p:spPr>
          <a:xfrm>
            <a:off x="986246" y="2697480"/>
            <a:ext cx="10189028" cy="3566159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548640" y="6053328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 i="1">
                <a:solidFill>
                  <a:srgbClr val="64748B"/>
                </a:solidFill>
              </a:defRPr>
            </a:pPr>
            <a:r>
              <a:rPr/>
              <a:t>Source: ICMR-INDIAB, Lancet Diabetes &amp; Endocrinology 2023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2554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111556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 i="0">
                <a:solidFill>
                  <a:srgbClr val="0F172A"/>
                </a:solidFill>
              </a:defRPr>
            </a:pPr>
            <a:r>
              <a:rPr/>
              <a:t>Why sleep? Two paths from a bad night to tomorrow's risk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19088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 i="0">
                <a:solidFill>
                  <a:srgbClr val="64748B"/>
                </a:solidFill>
              </a:defRPr>
            </a:pPr>
            <a:r>
              <a:rPr/>
              <a:t>SleepTwin · Team WeBareBears · PCCOE · all patient data simulated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6419088"/>
            <a:ext cx="548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 i="0">
                <a:solidFill>
                  <a:srgbClr val="64748B"/>
                </a:solidFill>
              </a:defRPr>
            </a:pPr>
            <a:r>
              <a:rPr/>
              <a:t>3</a:t>
            </a:r>
          </a:p>
        </p:txBody>
      </p:sp>
      <p:pic>
        <p:nvPicPr>
          <p:cNvPr id="6" name="Picture 5" descr="why_sleep.png"/>
          <p:cNvPicPr>
            <a:picLocks noChangeAspect="1"/>
          </p:cNvPicPr>
          <p:nvPr/>
        </p:nvPicPr>
        <p:blipFill rotWithShape="1">
          <a:blip r:embed="rId3"/>
          <a:stretch>
            <a:fillRect/>
          </a:stretch>
        </p:blipFill>
        <p:spPr>
          <a:xfrm>
            <a:off x="1013460" y="1143000"/>
            <a:ext cx="10134600" cy="43434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48640" y="5669280"/>
            <a:ext cx="110642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0" i="0">
                <a:solidFill>
                  <a:srgbClr val="475569"/>
                </a:solidFill>
              </a:defRPr>
            </a:pPr>
            <a:r>
              <a:rPr/>
              <a:t>Sleep is measured every night by consumer wearables - and it can be changed tonight.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2554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11155680" cy="518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 i="0">
                <a:solidFill>
                  <a:srgbClr val="0F172A"/>
                </a:solidFill>
              </a:defRPr>
            </a:pPr>
            <a:r>
              <a:rPr/>
              <a:t>Our solution: A Digital Twin of each Patient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19088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 i="0">
                <a:solidFill>
                  <a:srgbClr val="64748B"/>
                </a:solidFill>
              </a:defRPr>
            </a:pPr>
            <a:r>
              <a:rPr/>
              <a:t>SleepTwin · Team WeBareBears · PCCOE · all patient data simulated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6419088"/>
            <a:ext cx="548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 i="0">
                <a:solidFill>
                  <a:srgbClr val="64748B"/>
                </a:solidFill>
              </a:defRPr>
            </a:pPr>
            <a:r>
              <a:rPr/>
              <a:t>4</a:t>
            </a:r>
          </a:p>
        </p:txBody>
      </p:sp>
      <p:pic>
        <p:nvPicPr>
          <p:cNvPr id="6" name="Picture 5" descr="six_steps.png"/>
          <p:cNvPicPr>
            <a:picLocks noChangeAspect="1"/>
          </p:cNvPicPr>
          <p:nvPr/>
        </p:nvPicPr>
        <p:blipFill rotWithShape="1">
          <a:blip r:embed="rId3"/>
          <a:stretch>
            <a:fillRect/>
          </a:stretch>
        </p:blipFill>
        <p:spPr>
          <a:xfrm>
            <a:off x="548640" y="1143000"/>
            <a:ext cx="11064240" cy="3635393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48640" y="5669280"/>
            <a:ext cx="110642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0" i="0">
                <a:solidFill>
                  <a:srgbClr val="475569"/>
                </a:solidFill>
              </a:defRPr>
            </a:pPr>
            <a:r>
              <a:rPr/>
              <a:t>Two data streams in - the health record + daily wearable data - a personal forecast, an early warning, a reason and a tested fix out.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2554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architecture.png"/>
          <p:cNvPicPr>
            <a:picLocks noChangeAspect="1"/>
          </p:cNvPicPr>
          <p:nvPr/>
        </p:nvPicPr>
        <p:blipFill rotWithShape="1">
          <a:blip r:embed="rId3"/>
          <a:stretch>
            <a:fillRect/>
          </a:stretch>
        </p:blipFill>
        <p:spPr>
          <a:xfrm>
            <a:off x="282956" y="201168"/>
            <a:ext cx="11623040" cy="653796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2554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11155680" cy="518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 i="0">
                <a:solidFill>
                  <a:srgbClr val="0F172A"/>
                </a:solidFill>
              </a:defRPr>
            </a:pPr>
            <a:r>
              <a:rPr/>
              <a:t>Two Data Streams + Sandbox compliance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19088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 i="0">
                <a:solidFill>
                  <a:srgbClr val="64748B"/>
                </a:solidFill>
              </a:defRPr>
            </a:pPr>
            <a:r>
              <a:rPr/>
              <a:t>SleepTwin · Team WeBareBears · PCCOE · all patient data simulated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6419088"/>
            <a:ext cx="548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 i="0">
                <a:solidFill>
                  <a:srgbClr val="64748B"/>
                </a:solidFill>
              </a:defRPr>
            </a:pPr>
            <a:r>
              <a:rPr/>
              <a:t>6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280160"/>
            <a:ext cx="3474720" cy="4160520"/>
          </a:xfrm>
          <a:prstGeom prst="roundRect">
            <a:avLst/>
          </a:prstGeom>
          <a:solidFill>
            <a:srgbClr val="EDE9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1554480"/>
            <a:ext cx="2926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 i="0">
                <a:solidFill>
                  <a:srgbClr val="7C3AED"/>
                </a:solidFill>
              </a:defRPr>
            </a:pPr>
            <a:r>
              <a:rPr/>
              <a:t>Static: health record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2194560"/>
            <a:ext cx="292608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700">
                <a:solidFill>
                  <a:srgbClr val="0F172A"/>
                </a:solidFill>
              </a:defRPr>
            </a:pPr>
            <a:r>
              <a:rPr/>
              <a:t>✓  Demographics (age, sex, BMI)</a:t>
            </a:r>
          </a:p>
          <a:p>
            <a:pPr>
              <a:spcAft>
                <a:spcPts val="900"/>
              </a:spcAft>
              <a:defRPr sz="1700">
                <a:solidFill>
                  <a:srgbClr val="0F172A"/>
                </a:solidFill>
              </a:defRPr>
            </a:pPr>
            <a:r>
              <a:rPr/>
              <a:t>✓  Diagnoses with years</a:t>
            </a:r>
          </a:p>
          <a:p>
            <a:pPr>
              <a:spcAft>
                <a:spcPts val="900"/>
              </a:spcAft>
              <a:defRPr sz="1700">
                <a:solidFill>
                  <a:srgbClr val="0F172A"/>
                </a:solidFill>
              </a:defRPr>
            </a:pPr>
            <a:r>
              <a:rPr/>
              <a:t>✓  Lab results - latest + prior</a:t>
            </a:r>
          </a:p>
          <a:p>
            <a:pPr>
              <a:spcAft>
                <a:spcPts val="900"/>
              </a:spcAft>
              <a:defRPr sz="1700">
                <a:solidFill>
                  <a:srgbClr val="0F172A"/>
                </a:solidFill>
              </a:defRPr>
            </a:pPr>
            <a:r>
              <a:rPr/>
              <a:t>✓  Medicines</a:t>
            </a:r>
          </a:p>
          <a:p>
            <a:pPr>
              <a:spcAft>
                <a:spcPts val="900"/>
              </a:spcAft>
              <a:defRPr sz="1700">
                <a:solidFill>
                  <a:srgbClr val="0F172A"/>
                </a:solidFill>
              </a:defRPr>
            </a:pPr>
            <a:r>
              <a:rPr/>
              <a:t>✓  Genetic markers (simulated)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43400" y="1280160"/>
            <a:ext cx="3474720" cy="4160520"/>
          </a:xfrm>
          <a:prstGeom prst="roundRect">
            <a:avLst/>
          </a:prstGeom>
          <a:solidFill>
            <a:srgbClr val="E8E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617720" y="1554480"/>
            <a:ext cx="2926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 i="0">
                <a:solidFill>
                  <a:srgbClr val="2554E8"/>
                </a:solidFill>
              </a:defRPr>
            </a:pPr>
            <a:r>
              <a:rPr/>
              <a:t>Dynamic: wearables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17720" y="2194560"/>
            <a:ext cx="292608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700">
                <a:solidFill>
                  <a:srgbClr val="0F172A"/>
                </a:solidFill>
              </a:defRPr>
            </a:pPr>
            <a:r>
              <a:rPr/>
              <a:t>✓  Sleep stages every 5 min</a:t>
            </a:r>
          </a:p>
          <a:p>
            <a:pPr>
              <a:spcAft>
                <a:spcPts val="900"/>
              </a:spcAft>
              <a:defRPr sz="1700">
                <a:solidFill>
                  <a:srgbClr val="0F172A"/>
                </a:solidFill>
              </a:defRPr>
            </a:pPr>
            <a:r>
              <a:rPr/>
              <a:t>✓  HRV + resting heart rate</a:t>
            </a:r>
          </a:p>
          <a:p>
            <a:pPr>
              <a:spcAft>
                <a:spcPts val="900"/>
              </a:spcAft>
              <a:defRPr sz="1700">
                <a:solidFill>
                  <a:srgbClr val="0F172A"/>
                </a:solidFill>
              </a:defRPr>
            </a:pPr>
            <a:r>
              <a:rPr/>
              <a:t>✓  Steps</a:t>
            </a:r>
          </a:p>
          <a:p>
            <a:pPr>
              <a:spcAft>
                <a:spcPts val="900"/>
              </a:spcAft>
              <a:defRPr sz="1700">
                <a:solidFill>
                  <a:srgbClr val="0F172A"/>
                </a:solidFill>
              </a:defRPr>
            </a:pPr>
            <a:r>
              <a:rPr/>
              <a:t>✓  Night-time oxygen dips</a:t>
            </a:r>
          </a:p>
          <a:p>
            <a:pPr>
              <a:spcAft>
                <a:spcPts val="900"/>
              </a:spcAft>
              <a:defRPr sz="1700">
                <a:solidFill>
                  <a:srgbClr val="0F172A"/>
                </a:solidFill>
              </a:defRPr>
            </a:pPr>
            <a:r>
              <a:rPr/>
              <a:t>✓  CGM glucose every 5 min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138160" y="1280160"/>
            <a:ext cx="3474720" cy="4160520"/>
          </a:xfrm>
          <a:prstGeom prst="roundRect">
            <a:avLst/>
          </a:prstGeom>
          <a:solidFill>
            <a:srgbClr val="D1FA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412480" y="1554480"/>
            <a:ext cx="2926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 i="0">
                <a:solidFill>
                  <a:srgbClr val="059669"/>
                </a:solidFill>
              </a:defRPr>
            </a:pPr>
            <a:r>
              <a:rPr/>
              <a:t>Safe data only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412480" y="2194560"/>
            <a:ext cx="292608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700">
                <a:solidFill>
                  <a:srgbClr val="0F172A"/>
                </a:solidFill>
              </a:defRPr>
            </a:pPr>
            <a:r>
              <a:rPr/>
              <a:t>✓  300 virtual patients × 21 days</a:t>
            </a:r>
          </a:p>
          <a:p>
            <a:pPr>
              <a:spcAft>
                <a:spcPts val="900"/>
              </a:spcAft>
              <a:defRPr sz="1700">
                <a:solidFill>
                  <a:srgbClr val="0F172A"/>
                </a:solidFill>
              </a:defRPr>
            </a:pPr>
            <a:r>
              <a:rPr/>
              <a:t>✓  Calibrated on NHANES (public, anonymized)</a:t>
            </a:r>
          </a:p>
          <a:p>
            <a:pPr>
              <a:spcAft>
                <a:spcPts val="900"/>
              </a:spcAft>
              <a:defRPr sz="1700">
                <a:solidFill>
                  <a:srgbClr val="0F172A"/>
                </a:solidFill>
              </a:defRPr>
            </a:pPr>
            <a:r>
              <a:rPr/>
              <a:t>✓  Patterns from LifeSnaps (open, CC-BY-4.0)</a:t>
            </a:r>
          </a:p>
          <a:p>
            <a:pPr>
              <a:spcAft>
                <a:spcPts val="900"/>
              </a:spcAft>
              <a:defRPr sz="1700">
                <a:solidFill>
                  <a:srgbClr val="0F172A"/>
                </a:solidFill>
              </a:defRPr>
            </a:pPr>
            <a:r>
              <a:rPr/>
              <a:t>✓  No real patients, no personal data</a:t>
            </a:r>
          </a:p>
          <a:p>
            <a:pPr>
              <a:spcAft>
                <a:spcPts val="900"/>
              </a:spcAft>
              <a:defRPr sz="1700">
                <a:solidFill>
                  <a:srgbClr val="0F172A"/>
                </a:solidFill>
              </a:defRPr>
            </a:pPr>
            <a:r>
              <a:rPr/>
              <a:t>✓  Labelled 'Simulated' everywhere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5715000"/>
            <a:ext cx="110642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0" i="0">
                <a:solidFill>
                  <a:srgbClr val="475569"/>
                </a:solidFill>
              </a:defRPr>
            </a:pPr>
            <a:r>
              <a:rPr/>
              <a:t>Cohort: T2D 37% · prediabetes 29% · hypertension 52% · sleep apnea 26% (only 5% diagnosed)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2554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11155680" cy="518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 i="0">
                <a:solidFill>
                  <a:srgbClr val="0F172A"/>
                </a:solidFill>
              </a:defRPr>
            </a:pPr>
            <a:r>
              <a:rPr/>
              <a:t>The simulator: How sleep reaches Blood Sugar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19088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 i="0">
                <a:solidFill>
                  <a:srgbClr val="64748B"/>
                </a:solidFill>
              </a:defRPr>
            </a:pPr>
            <a:r>
              <a:rPr/>
              <a:t>SleepTwin · Team WeBareBears · PCCOE · all patient data simulated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6419088"/>
            <a:ext cx="548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 i="0">
                <a:solidFill>
                  <a:srgbClr val="64748B"/>
                </a:solidFill>
              </a:defRPr>
            </a:pPr>
            <a:r>
              <a:rPr/>
              <a:t>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325880"/>
            <a:ext cx="448056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600">
                <a:solidFill>
                  <a:srgbClr val="0F172A"/>
                </a:solidFill>
              </a:defRPr>
            </a:pPr>
            <a:r>
              <a:rPr/>
              <a:t>●  Sleep debt = last 7 nights' shortfall, recent nights count more</a:t>
            </a:r>
          </a:p>
          <a:p>
            <a:pPr>
              <a:spcAft>
                <a:spcPts val="1400"/>
              </a:spcAft>
              <a:defRPr sz="1600">
                <a:solidFill>
                  <a:srgbClr val="0F172A"/>
                </a:solidFill>
              </a:defRPr>
            </a:pPr>
            <a:r>
              <a:rPr/>
              <a:t>●  4 nights of 5 h → insulin sensitivity −25% (matches sleep studies)</a:t>
            </a:r>
          </a:p>
          <a:p>
            <a:pPr>
              <a:spcAft>
                <a:spcPts val="1400"/>
              </a:spcAft>
              <a:defRPr sz="1600">
                <a:solidFill>
                  <a:srgbClr val="0F172A"/>
                </a:solidFill>
              </a:defRPr>
            </a:pPr>
            <a:r>
              <a:rPr/>
              <a:t>●  Bergman glucose model turns meals + insulin sensitivity into CGM every 5 min</a:t>
            </a:r>
          </a:p>
          <a:p>
            <a:pPr>
              <a:spcAft>
                <a:spcPts val="1400"/>
              </a:spcAft>
              <a:defRPr sz="1600">
                <a:solidFill>
                  <a:srgbClr val="0F172A"/>
                </a:solidFill>
              </a:defRPr>
            </a:pPr>
            <a:r>
              <a:rPr/>
              <a:t>●  Beta-blockers hide the heart-rate signal - HRV still shows the strain</a:t>
            </a:r>
          </a:p>
          <a:p>
            <a:pPr>
              <a:spcAft>
                <a:spcPts val="1400"/>
              </a:spcAft>
              <a:defRPr sz="1600">
                <a:solidFill>
                  <a:srgbClr val="0F172A"/>
                </a:solidFill>
              </a:defRPr>
            </a:pPr>
            <a:r>
              <a:rPr/>
              <a:t>●  Honest limit: labels come from the same simulator</a:t>
            </a:r>
          </a:p>
        </p:txBody>
      </p:sp>
      <p:pic>
        <p:nvPicPr>
          <p:cNvPr id="7" name="Picture 6" descr="persona_story.png"/>
          <p:cNvPicPr>
            <a:picLocks noChangeAspect="1"/>
          </p:cNvPicPr>
          <p:nvPr/>
        </p:nvPicPr>
        <p:blipFill rotWithShape="1">
          <a:blip r:embed="rId3"/>
          <a:stretch>
            <a:fillRect/>
          </a:stretch>
        </p:blipFill>
        <p:spPr>
          <a:xfrm>
            <a:off x="5212080" y="1143000"/>
            <a:ext cx="6492240" cy="4920434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2554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111556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 i="0">
                <a:solidFill>
                  <a:srgbClr val="0F172A"/>
                </a:solidFill>
              </a:defRPr>
            </a:pPr>
            <a:r>
              <a:rPr/>
              <a:t>Does combining both data streams help? Yes.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19088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 i="0">
                <a:solidFill>
                  <a:srgbClr val="64748B"/>
                </a:solidFill>
              </a:defRPr>
            </a:pPr>
            <a:r>
              <a:rPr/>
              <a:t>SleepTwin · Team WeBareBears · PCCOE · all patient data simulated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6419088"/>
            <a:ext cx="548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 i="0">
                <a:solidFill>
                  <a:srgbClr val="64748B"/>
                </a:solidFill>
              </a:defRPr>
            </a:pPr>
            <a:r>
              <a:rPr/>
              <a:t>8</a:t>
            </a:r>
          </a:p>
        </p:txBody>
      </p:sp>
      <p:pic>
        <p:nvPicPr>
          <p:cNvPr id="6" name="Picture 5" descr="ablation.png"/>
          <p:cNvPicPr>
            <a:picLocks noChangeAspect="1"/>
          </p:cNvPicPr>
          <p:nvPr/>
        </p:nvPicPr>
        <p:blipFill rotWithShape="1">
          <a:blip r:embed="rId3"/>
          <a:stretch>
            <a:fillRect/>
          </a:stretch>
        </p:blipFill>
        <p:spPr>
          <a:xfrm>
            <a:off x="1814921" y="1143000"/>
            <a:ext cx="8531678" cy="43434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48640" y="5669280"/>
            <a:ext cx="110642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0" i="0">
                <a:solidFill>
                  <a:srgbClr val="475569"/>
                </a:solidFill>
              </a:defRPr>
            </a:pPr>
            <a:r>
              <a:rPr/>
              <a:t>2,100 patient-days, tested only on patients the model never saw (GroupKFold by patient). The gain is largest for diabetics - the same night means more for a high-risk patient.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2554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11155680" cy="518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 i="0">
                <a:solidFill>
                  <a:srgbClr val="0F172A"/>
                </a:solidFill>
              </a:defRPr>
            </a:pPr>
            <a:r>
              <a:rPr/>
              <a:t>2-hour early warning for Glucose spikes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19088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 i="0">
                <a:solidFill>
                  <a:srgbClr val="64748B"/>
                </a:solidFill>
              </a:defRPr>
            </a:pPr>
            <a:r>
              <a:rPr/>
              <a:t>SleepTwin · Team WeBareBears · PCCOE · all patient data simulated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6419088"/>
            <a:ext cx="548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 i="0">
                <a:solidFill>
                  <a:srgbClr val="64748B"/>
                </a:solidFill>
              </a:defRPr>
            </a:pPr>
            <a:r>
              <a:rPr/>
              <a:t>9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143000"/>
            <a:ext cx="3520440" cy="1325880"/>
          </a:xfrm>
          <a:prstGeom prst="roundRect">
            <a:avLst/>
          </a:prstGeom>
          <a:solidFill>
            <a:srgbClr val="E8E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252728"/>
            <a:ext cx="31089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400" b="1" i="0">
                <a:solidFill>
                  <a:srgbClr val="2554E8"/>
                </a:solidFill>
              </a:defRPr>
            </a:pPr>
            <a:r>
              <a:rPr/>
              <a:t>70 min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1920240"/>
            <a:ext cx="31089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0" i="0">
                <a:solidFill>
                  <a:srgbClr val="475569"/>
                </a:solidFill>
              </a:defRPr>
            </a:pPr>
            <a:r>
              <a:rPr/>
              <a:t>median warning before a spike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297679" y="1143000"/>
            <a:ext cx="3520440" cy="1325880"/>
          </a:xfrm>
          <a:prstGeom prst="roundRect">
            <a:avLst/>
          </a:prstGeom>
          <a:solidFill>
            <a:srgbClr val="E8E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26279" y="1252728"/>
            <a:ext cx="31089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400" b="1" i="0">
                <a:solidFill>
                  <a:srgbClr val="2554E8"/>
                </a:solidFill>
              </a:defRPr>
            </a:pPr>
            <a:r>
              <a:rPr/>
              <a:t>0.95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26279" y="1920240"/>
            <a:ext cx="31089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0" i="0">
                <a:solidFill>
                  <a:srgbClr val="475569"/>
                </a:solidFill>
              </a:defRPr>
            </a:pPr>
            <a:r>
              <a:rPr/>
              <a:t>accuracy (AUROC) vs 0.79 for a plain trend arrow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46719" y="1143000"/>
            <a:ext cx="3520440" cy="1325880"/>
          </a:xfrm>
          <a:prstGeom prst="roundRect">
            <a:avLst/>
          </a:prstGeom>
          <a:solidFill>
            <a:srgbClr val="E8E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75319" y="1252728"/>
            <a:ext cx="31089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400" b="1" i="0">
                <a:solidFill>
                  <a:srgbClr val="2554E8"/>
                </a:solidFill>
              </a:defRPr>
            </a:pPr>
            <a:r>
              <a:rPr/>
              <a:t>60%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75319" y="1920240"/>
            <a:ext cx="31089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0" i="0">
                <a:solidFill>
                  <a:srgbClr val="475569"/>
                </a:solidFill>
              </a:defRPr>
            </a:pPr>
            <a:r>
              <a:rPr/>
              <a:t>of spikes warned in advance</a:t>
            </a:r>
          </a:p>
        </p:txBody>
      </p:sp>
      <p:pic>
        <p:nvPicPr>
          <p:cNvPr id="15" name="Picture 14" descr="two_hour.png"/>
          <p:cNvPicPr>
            <a:picLocks noChangeAspect="1"/>
          </p:cNvPicPr>
          <p:nvPr/>
        </p:nvPicPr>
        <p:blipFill rotWithShape="1">
          <a:blip r:embed="rId3"/>
          <a:stretch>
            <a:fillRect/>
          </a:stretch>
        </p:blipFill>
        <p:spPr>
          <a:xfrm>
            <a:off x="2336292" y="2697480"/>
            <a:ext cx="7488935" cy="3566159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2554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111556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 i="0">
                <a:solidFill>
                  <a:srgbClr val="0F172A"/>
                </a:solidFill>
              </a:defRPr>
            </a:pPr>
            <a:r>
              <a:rPr/>
              <a:t>Checked on real people (LifeSnaps Fitbit data)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19088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 i="0">
                <a:solidFill>
                  <a:srgbClr val="64748B"/>
                </a:solidFill>
              </a:defRPr>
            </a:pPr>
            <a:r>
              <a:rPr/>
              <a:t>SleepTwin · Team WeBareBears · PCCOE · all patient data simulated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6419088"/>
            <a:ext cx="548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 i="0">
                <a:solidFill>
                  <a:srgbClr val="64748B"/>
                </a:solidFill>
              </a:defRPr>
            </a:pPr>
            <a:r>
              <a:rPr/>
              <a:t>10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325880"/>
            <a:ext cx="448056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600">
                <a:solidFill>
                  <a:srgbClr val="0F172A"/>
                </a:solidFill>
              </a:defRPr>
            </a:pPr>
            <a:r>
              <a:rPr/>
              <a:t>●  38 real users, 2,381 nights</a:t>
            </a:r>
          </a:p>
          <a:p>
            <a:pPr>
              <a:spcAft>
                <a:spcPts val="1400"/>
              </a:spcAft>
              <a:defRPr sz="1600">
                <a:solidFill>
                  <a:srgbClr val="0F172A"/>
                </a:solidFill>
              </a:defRPr>
            </a:pPr>
            <a:r>
              <a:rPr/>
              <a:t>●  Short night = below that person's own usual</a:t>
            </a:r>
          </a:p>
          <a:p>
            <a:pPr>
              <a:spcAft>
                <a:spcPts val="1400"/>
              </a:spcAft>
              <a:defRPr sz="1600">
                <a:solidFill>
                  <a:srgbClr val="0F172A"/>
                </a:solidFill>
              </a:defRPr>
            </a:pPr>
            <a:r>
              <a:rPr/>
              <a:t>●  Next-day resting HR: +0.20 SD (p = 0.0028)</a:t>
            </a:r>
          </a:p>
          <a:p>
            <a:pPr>
              <a:spcAft>
                <a:spcPts val="1400"/>
              </a:spcAft>
              <a:defRPr sz="1600">
                <a:solidFill>
                  <a:srgbClr val="0F172A"/>
                </a:solidFill>
              </a:defRPr>
            </a:pPr>
            <a:r>
              <a:rPr/>
              <a:t>●  HRV: -0.28 SD (p = 2.4e-05)</a:t>
            </a:r>
          </a:p>
          <a:p>
            <a:pPr>
              <a:spcAft>
                <a:spcPts val="1400"/>
              </a:spcAft>
              <a:defRPr sz="1600">
                <a:solidFill>
                  <a:srgbClr val="0F172A"/>
                </a:solidFill>
              </a:defRPr>
            </a:pPr>
            <a:r>
              <a:rPr/>
              <a:t>●  The twin's core idea - drift from your own normal - holds in real data</a:t>
            </a:r>
          </a:p>
        </p:txBody>
      </p:sp>
      <p:pic>
        <p:nvPicPr>
          <p:cNvPr id="7" name="Picture 6" descr="lifesnaps.png"/>
          <p:cNvPicPr>
            <a:picLocks noChangeAspect="1"/>
          </p:cNvPicPr>
          <p:nvPr/>
        </p:nvPicPr>
        <p:blipFill rotWithShape="1">
          <a:blip r:embed="rId3"/>
          <a:stretch>
            <a:fillRect/>
          </a:stretch>
        </p:blipFill>
        <p:spPr>
          <a:xfrm>
            <a:off x="5212080" y="1143000"/>
            <a:ext cx="6492240" cy="3280289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2554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11155680" cy="518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 i="0">
                <a:solidFill>
                  <a:srgbClr val="0F172A"/>
                </a:solidFill>
              </a:defRPr>
            </a:pPr>
            <a:r>
              <a:rPr/>
              <a:t>Outcome: Three Patients, Three Different Answers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19088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 i="0">
                <a:solidFill>
                  <a:srgbClr val="64748B"/>
                </a:solidFill>
              </a:defRPr>
            </a:pPr>
            <a:r>
              <a:rPr/>
              <a:t>SleepTwin · Team WeBareBears · PCCOE · all patient data simulated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6419088"/>
            <a:ext cx="548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 i="0">
                <a:solidFill>
                  <a:srgbClr val="64748B"/>
                </a:solidFill>
              </a:defRPr>
            </a:pPr>
            <a:r>
              <a:rPr/>
              <a:t>11</a:t>
            </a:r>
          </a:p>
        </p:txBody>
      </p:sp>
      <p:pic>
        <p:nvPicPr>
          <p:cNvPr id="6" name="Picture 5" descr="personas.png"/>
          <p:cNvPicPr>
            <a:picLocks noChangeAspect="1"/>
          </p:cNvPicPr>
          <p:nvPr/>
        </p:nvPicPr>
        <p:blipFill rotWithShape="1">
          <a:blip r:embed="rId3"/>
          <a:stretch>
            <a:fillRect/>
          </a:stretch>
        </p:blipFill>
        <p:spPr>
          <a:xfrm>
            <a:off x="1486779" y="1143000"/>
            <a:ext cx="9187961" cy="43434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48640" y="5669280"/>
            <a:ext cx="110642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0" i="0">
                <a:solidFill>
                  <a:srgbClr val="475569"/>
                </a:solidFill>
              </a:defRPr>
            </a:pPr>
            <a:r>
              <a:rPr/>
              <a:t>The twin escalates the high-risk patient, finds a problem a sleep app would miss, and stays calm for a healthy person.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2554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11155680" cy="518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 i="0">
                <a:solidFill>
                  <a:srgbClr val="0F172A"/>
                </a:solidFill>
              </a:defRPr>
            </a:pPr>
            <a:r>
              <a:rPr/>
              <a:t>The Clinician Dashboard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19088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 i="0">
                <a:solidFill>
                  <a:srgbClr val="64748B"/>
                </a:solidFill>
              </a:defRPr>
            </a:pPr>
            <a:r>
              <a:rPr/>
              <a:t>SleepTwin · Team WeBareBears · PCCOE · all patient data simulated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6419088"/>
            <a:ext cx="548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 i="0">
                <a:solidFill>
                  <a:srgbClr val="64748B"/>
                </a:solidFill>
              </a:defRPr>
            </a:pPr>
            <a:r>
              <a:rPr/>
              <a:t>12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5486400"/>
            <a:ext cx="54406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 i="0">
                <a:solidFill>
                  <a:srgbClr val="0F172A"/>
                </a:solidFill>
              </a:defRPr>
            </a:pPr>
            <a:r>
              <a:rPr/>
              <a:t>Overview: risk, 2-hour alert, reasons, hidden-signal flags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172200" y="5486400"/>
            <a:ext cx="54406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 i="0">
                <a:solidFill>
                  <a:srgbClr val="0F172A"/>
                </a:solidFill>
              </a:defRPr>
            </a:pPr>
            <a:r>
              <a:rPr/>
              <a:t>What-If: move the sleep slider - risk and tomorrow's curve update</a:t>
            </a:r>
          </a:p>
        </p:txBody>
      </p:sp>
      <p:pic>
        <p:nvPicPr>
          <p:cNvPr id="59" name="Picture 7" descr="Screenshot 2026-10-23 at 11.55.45 am.png"/>
          <p:cNvPicPr>
            <a:picLocks noChangeAspect="1"/>
          </p:cNvPicPr>
          <p:nvPr/>
        </p:nvPicPr>
        <p:blipFill rotWithShape="1">
          <a:blip r:embed="rId3"/>
          <a:stretch>
            <a:fillRect/>
          </a:stretch>
        </p:blipFill>
        <p:spPr>
          <a:xfrm>
            <a:off x="457200" y="1295400"/>
            <a:ext cx="5456499" cy="3738266"/>
          </a:xfrm>
          <a:prstGeom prst="rect">
            <a:avLst/>
          </a:prstGeom>
        </p:spPr>
      </p:pic>
      <p:pic>
        <p:nvPicPr>
          <p:cNvPr id="61" name="Picture 8" descr="Screenshot 2026-10-23 at 11.55.57 am.png"/>
          <p:cNvPicPr>
            <a:picLocks noChangeAspect="1"/>
          </p:cNvPicPr>
          <p:nvPr/>
        </p:nvPicPr>
        <p:blipFill rotWithShape="1">
          <a:blip r:embed="rId4"/>
          <a:stretch>
            <a:fillRect/>
          </a:stretch>
        </p:blipFill>
        <p:spPr>
          <a:xfrm>
            <a:off x="6172200" y="1295400"/>
            <a:ext cx="5250914" cy="3658529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2554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11155680" cy="518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 i="0">
                <a:solidFill>
                  <a:srgbClr val="0F172A"/>
                </a:solidFill>
              </a:defRPr>
            </a:pPr>
            <a:r>
              <a:rPr/>
              <a:t>Limitations &amp; Safety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19088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 i="0">
                <a:solidFill>
                  <a:srgbClr val="64748B"/>
                </a:solidFill>
              </a:defRPr>
            </a:pPr>
            <a:r>
              <a:rPr/>
              <a:t>SleepTwin · Team WeBareBears · PCCOE · all patient data simulated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6419088"/>
            <a:ext cx="548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 i="0">
                <a:solidFill>
                  <a:srgbClr val="64748B"/>
                </a:solidFill>
              </a:defRPr>
            </a:pPr>
            <a:r>
              <a:rPr/>
              <a:t>13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280160"/>
            <a:ext cx="3474720" cy="3026663"/>
          </a:xfrm>
          <a:prstGeom prst="roundRect">
            <a:avLst/>
          </a:prstGeom>
          <a:solidFill>
            <a:srgbClr val="FEF3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48640" y="1280160"/>
            <a:ext cx="3474720" cy="109728"/>
          </a:xfrm>
          <a:prstGeom prst="rect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1554480"/>
            <a:ext cx="2926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 i="0">
                <a:solidFill>
                  <a:srgbClr val="D97706"/>
                </a:solidFill>
              </a:defRPr>
            </a:pPr>
            <a:r>
              <a:rPr/>
              <a:t>Decision support only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2194560"/>
            <a:ext cx="292608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700">
                <a:solidFill>
                  <a:srgbClr val="0F172A"/>
                </a:solidFill>
              </a:defRPr>
            </a:pPr>
            <a:r>
              <a:rPr/>
              <a:t>✓  Not a diagnosis</a:t>
            </a:r>
          </a:p>
          <a:p>
            <a:pPr>
              <a:spcAft>
                <a:spcPts val="900"/>
              </a:spcAft>
              <a:defRPr sz="1700">
                <a:solidFill>
                  <a:srgbClr val="0F172A"/>
                </a:solidFill>
              </a:defRPr>
            </a:pPr>
            <a:r>
              <a:rPr/>
              <a:t>✓  The doctor stays in charge</a:t>
            </a:r>
          </a:p>
          <a:p>
            <a:pPr>
              <a:spcAft>
                <a:spcPts val="900"/>
              </a:spcAft>
              <a:defRPr sz="1700">
                <a:solidFill>
                  <a:srgbClr val="0F172A"/>
                </a:solidFill>
              </a:defRPr>
            </a:pPr>
            <a:r>
              <a:rPr/>
              <a:t>✓  Disclaimer on every screen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43400" y="1280160"/>
            <a:ext cx="3474720" cy="3026663"/>
          </a:xfrm>
          <a:prstGeom prst="roundRect">
            <a:avLst/>
          </a:prstGeom>
          <a:solidFill>
            <a:srgbClr val="FEE2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343400" y="1280160"/>
            <a:ext cx="3474720" cy="109728"/>
          </a:xfrm>
          <a:prstGeom prst="rect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617720" y="1554480"/>
            <a:ext cx="2926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 i="0">
                <a:solidFill>
                  <a:srgbClr val="DC2626"/>
                </a:solidFill>
              </a:defRPr>
            </a:pPr>
            <a:r>
              <a:rPr/>
              <a:t>Not clinically proven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17720" y="2194560"/>
            <a:ext cx="292608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700">
                <a:solidFill>
                  <a:srgbClr val="0F172A"/>
                </a:solidFill>
              </a:defRPr>
            </a:pPr>
            <a:r>
              <a:rPr/>
              <a:t>✓  Trained on virtual patients</a:t>
            </a:r>
          </a:p>
          <a:p>
            <a:pPr>
              <a:spcAft>
                <a:spcPts val="900"/>
              </a:spcAft>
              <a:defRPr sz="1700">
                <a:solidFill>
                  <a:srgbClr val="0F172A"/>
                </a:solidFill>
              </a:defRPr>
            </a:pPr>
            <a:r>
              <a:rPr/>
              <a:t>✓  Labels share the simulator's assumptions</a:t>
            </a:r>
          </a:p>
          <a:p>
            <a:pPr>
              <a:spcAft>
                <a:spcPts val="900"/>
              </a:spcAft>
              <a:defRPr sz="1700">
                <a:solidFill>
                  <a:srgbClr val="0F172A"/>
                </a:solidFill>
              </a:defRPr>
            </a:pPr>
            <a:r>
              <a:rPr/>
              <a:t>✓  Needs real-data validation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138160" y="1280160"/>
            <a:ext cx="3474720" cy="3026663"/>
          </a:xfrm>
          <a:prstGeom prst="roundRect">
            <a:avLst/>
          </a:prstGeom>
          <a:solidFill>
            <a:srgbClr val="D1FA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138160" y="1280160"/>
            <a:ext cx="3474720" cy="109728"/>
          </a:xfrm>
          <a:prstGeom prst="rect">
            <a:avLst/>
          </a:prstGeom>
          <a:solidFill>
            <a:srgbClr val="0596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412480" y="1554480"/>
            <a:ext cx="2926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 i="0">
                <a:solidFill>
                  <a:srgbClr val="059669"/>
                </a:solidFill>
              </a:defRPr>
            </a:pPr>
            <a:r>
              <a:rPr/>
              <a:t>Built safely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412480" y="2194560"/>
            <a:ext cx="292608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700">
                <a:solidFill>
                  <a:srgbClr val="0F172A"/>
                </a:solidFill>
              </a:defRPr>
            </a:pPr>
            <a:r>
              <a:rPr/>
              <a:t>✓  No real patient data</a:t>
            </a:r>
          </a:p>
          <a:p>
            <a:pPr>
              <a:spcAft>
                <a:spcPts val="900"/>
              </a:spcAft>
              <a:defRPr sz="1700">
                <a:solidFill>
                  <a:srgbClr val="0F172A"/>
                </a:solidFill>
              </a:defRPr>
            </a:pPr>
            <a:r>
              <a:rPr/>
              <a:t>✓  Security-hardened app + API</a:t>
            </a:r>
          </a:p>
          <a:p>
            <a:pPr>
              <a:spcAft>
                <a:spcPts val="900"/>
              </a:spcAft>
              <a:defRPr sz="1700">
                <a:solidFill>
                  <a:srgbClr val="0F172A"/>
                </a:solidFill>
              </a:defRPr>
            </a:pPr>
            <a:r>
              <a:rPr/>
              <a:t>✓  0 known dependency vulnerabilities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4581144"/>
            <a:ext cx="110642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0" i="0">
                <a:solidFill>
                  <a:srgbClr val="475569"/>
                </a:solidFill>
              </a:defRPr>
            </a:pPr>
            <a:r>
              <a:rPr/>
              <a:t>Also: NHANES is a US population and genetic markers are simulated - Indian calibration is future work.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2554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11155680" cy="518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 i="0">
                <a:solidFill>
                  <a:srgbClr val="0F172A"/>
                </a:solidFill>
              </a:defRPr>
            </a:pPr>
            <a:r>
              <a:rPr/>
              <a:t>Roadmap &amp; Fit with a Virtual Doctor Programme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19088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 i="0">
                <a:solidFill>
                  <a:srgbClr val="64748B"/>
                </a:solidFill>
              </a:defRPr>
            </a:pPr>
            <a:r>
              <a:rPr/>
              <a:t>SleepTwin · Team WeBareBears · PCCOE · all patient data simulated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6419088"/>
            <a:ext cx="548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 i="0">
                <a:solidFill>
                  <a:srgbClr val="64748B"/>
                </a:solidFill>
              </a:defRPr>
            </a:pPr>
            <a:r>
              <a:rPr/>
              <a:t>14</a:t>
            </a:r>
          </a:p>
        </p:txBody>
      </p:sp>
      <p:pic>
        <p:nvPicPr>
          <p:cNvPr id="6" name="Picture 5" descr="roadmap.png"/>
          <p:cNvPicPr>
            <a:picLocks noChangeAspect="1"/>
          </p:cNvPicPr>
          <p:nvPr/>
        </p:nvPicPr>
        <p:blipFill rotWithShape="1">
          <a:blip r:embed="rId3"/>
          <a:stretch>
            <a:fillRect/>
          </a:stretch>
        </p:blipFill>
        <p:spPr>
          <a:xfrm>
            <a:off x="548640" y="1143000"/>
            <a:ext cx="11064240" cy="4109574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48640" y="5669280"/>
            <a:ext cx="110642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0" i="0">
                <a:solidFill>
                  <a:srgbClr val="475569"/>
                </a:solidFill>
              </a:defRPr>
            </a:pPr>
            <a:r>
              <a:rPr/>
              <a:t>SleepTwin can be the between-visit 'sleep + metabolism' module of a virtual doctor: forecast tomorrow, suggest tonight's fix.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>
          <a:solidFill>
            <a:schemeClr val="phClr"/>
          </a:solidFill>
          <a:prstDash val="solid"/>
        </a:ln>
        <a:ln w="38100" cap="flat" cmpd="sng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algn="b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algn="b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algn="b" rotWithShape="0">
              <a:srgbClr val="000000">
                <a:alpha val="35000"/>
              </a:srgbClr>
            </a:outerShdw>
          </a:effectLst>
          <a:scene3d xmlns:a="http://schemas.openxmlformats.org/drawingml/2006/main"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 xmlns:a="http://schemas.openxmlformats.org/drawingml/2006/main"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 xmlns:a="http://schemas.openxmlformats.org/drawingml/2006/main"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 xmlns:a="http://schemas.openxmlformats.org/drawingml/2006/main"/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>
          <a:solidFill>
            <a:schemeClr val="phClr"/>
          </a:solidFill>
          <a:prstDash val="solid"/>
        </a:ln>
        <a:ln w="38100" cap="flat" cmpd="sng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algn="b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algn="b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algn="b" rotWithShape="0">
              <a:srgbClr val="000000">
                <a:alpha val="35000"/>
              </a:srgbClr>
            </a:outerShdw>
          </a:effectLst>
          <a:scene3d xmlns:a="http://schemas.openxmlformats.org/drawingml/2006/main"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 xmlns:a="http://schemas.openxmlformats.org/drawingml/2006/main"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 xmlns:a="http://schemas.openxmlformats.org/drawingml/2006/main"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 xmlns:a="http://schemas.openxmlformats.org/drawingml/2006/main"/>
</a:theme>
</file>

<file path=docProps/app.xml><?xml version="1.0" encoding="utf-8"?>
<Properties xmlns="http://schemas.openxmlformats.org/officeDocument/2006/extended-properties" xmlns:vt="http://schemas.openxmlformats.org/officeDocument/2006/docPropsVTypes">
  <Application>DeckCraft</Application>
  <Slides>14</Slides>
  <Notes>14</Notes>
  <HiddenSlides>0</HiddenSlide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</cp:coreProperties>
</file>