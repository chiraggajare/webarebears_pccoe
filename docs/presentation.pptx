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one-line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Smartwatches record sleep nightly but don't know the wearer's medical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row: glucose path. Bottom row: blood-pressure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digital twin is a virtual copy of one patient, updated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open data, virtual patients, twin brain, dashboard; then the What-If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streams required by the challenge are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persona A to show the chain: sleep drops, insulin sensitivity drops, peaks cross 180.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AUROC: chance the model ranks a real event above a quiet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Uses current glucose, its trend, the last meal, last night's sleep and the health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person is compared with themselves, not with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values come from the live What-If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pages: Patients, Overview, Trends, What-If, How It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upfront about what the prototype does not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one-liner.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28800"/>
            <a:ext cx="109728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600" b="1" i="0">
                <a:solidFill>
                  <a:srgbClr val="FFFFFF"/>
                </a:solidFill>
              </a:defRPr>
            </a:pPr>
            <a:r>
              <a:t>SleepTwin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29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E6ECFF"/>
                </a:solidFill>
              </a:defRPr>
            </a:pPr>
            <a:r>
              <a:t>A sleep-driven digital twin that forecasts tomorrow's blood-sugar spike and morning BP surge for people with Type 2 Diabetes and Hypertension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 i="0">
                <a:solidFill>
                  <a:srgbClr val="FFFFFF"/>
                </a:solidFill>
              </a:defRPr>
            </a:pPr>
            <a:r>
              <a:t>Team WeBareBears  ·  PCCOE  ·  Happiest Health Digital Twin Challenge 2026 - 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1">
                <a:solidFill>
                  <a:srgbClr val="C9D6FF"/>
                </a:solidFill>
              </a:defRPr>
            </a:pPr>
            <a:r>
              <a:t>Model-based projection for clinical decision support. Research prototype.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The problem: a blind spot between visits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t>~101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t>people with diabetes in India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t>~315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t>people with hypertension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t>~15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t>with a doctor every few months</a:t>
            </a:r>
          </a:p>
        </p:txBody>
      </p:sp>
      <p:pic>
        <p:nvPicPr>
          <p:cNvPr id="15" name="Picture 14" descr="blind_sp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246" y="2697480"/>
            <a:ext cx="10189028" cy="356615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1">
                <a:solidFill>
                  <a:srgbClr val="64748B"/>
                </a:solidFill>
              </a:defRPr>
            </a:pPr>
            <a:r>
              <a:t>Source: ICMR-INDIAB, Lancet Diabetes &amp; Endocrinology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Why sleep? Two paths from a bad night to tomorrow's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pic>
        <p:nvPicPr>
          <p:cNvPr id="6" name="Picture 5" descr="why_sle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60" y="1143000"/>
            <a:ext cx="101346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t>Sleep is measured every night by consumer wearables - and it can be changed tonight.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Our solution: a digital twin of each patient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pic>
        <p:nvPicPr>
          <p:cNvPr id="6" name="Picture 5" descr="six_ste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11064240" cy="36353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t>Two data streams in - the health record + daily wearable data - a personal forecast, an early warning, a reason and a tested fix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56" y="201168"/>
            <a:ext cx="11623040" cy="6537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Two data streams + sandbox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4160520"/>
          </a:xfrm>
          <a:prstGeom prst="roundRect">
            <a:avLst/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7C3AED"/>
                </a:solidFill>
              </a:defRPr>
            </a:pPr>
            <a:r>
              <a:t>Static: health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Demographics (age, sex, BMI)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Diagnoses with years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Lab results - latest + prior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Medicines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Genetic markers (simulated)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474720" cy="416052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474720" cy="109728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2554E8"/>
                </a:solidFill>
              </a:defRPr>
            </a:pPr>
            <a:r>
              <a:t>Dynamic: wearables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Sleep stages every 5 min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HRV + resting heart rate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Steps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Night-time oxygen dips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CGM glucose every 5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74720" cy="4160520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474720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59669"/>
                </a:solidFill>
              </a:defRPr>
            </a:pPr>
            <a:r>
              <a:t>Safe data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300 virtual patients × 21 days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Calibrated on NHANES (public, anonymized)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Patterns from LifeSnaps (open, CC-BY-4.0)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No real patients, no personal data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Labelled 'Simulated' everywhere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t>Cohort: T2D 37% · prediabetes 29% · hypertension 52% · sleep apnea 26% (only 5% diagnosed)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The simulator: how sleep reaches blood sugar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480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Sleep debt = last 7 nights' shortfall, recent nights count more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4 nights of 5 h → insulin sensitivity −25% (matches sleep studies)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Bergman glucose model turns meals + insulin sensitivity into CGM every 5 min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Beta-blockers hide the heart-rate signal - HRV still shows the strain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Honest limit: labels come from the same simulator</a:t>
            </a:r>
          </a:p>
        </p:txBody>
      </p:sp>
      <p:pic>
        <p:nvPicPr>
          <p:cNvPr id="7" name="Picture 6" descr="persona_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43000"/>
            <a:ext cx="6492240" cy="49204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Does combining both data streams help? Yes.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pic>
        <p:nvPicPr>
          <p:cNvPr id="6" name="Picture 5" descr="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921" y="1143000"/>
            <a:ext cx="8531678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t>2,100 patient-days, tested only on patients the model never saw (GroupKFold by patient). The gain is largest for diabetics - the same night means more for a high-risk patient.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2-hour early warning for glucose spikes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t>70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t>median warning before a spike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t>0.95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t>accuracy (AUROC) vs 0.79 for a plain trend arrow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143000"/>
            <a:ext cx="3520440" cy="1325880"/>
          </a:xfrm>
          <a:prstGeom prst="roundRect">
            <a:avLst/>
          </a:prstGeom>
          <a:solidFill>
            <a:srgbClr val="E8E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252728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 i="0">
                <a:solidFill>
                  <a:srgbClr val="2554E8"/>
                </a:solidFill>
              </a:defRPr>
            </a:pPr>
            <a: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19202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 i="0">
                <a:solidFill>
                  <a:srgbClr val="475569"/>
                </a:solidFill>
              </a:defRPr>
            </a:pPr>
            <a:r>
              <a:t>of spikes warned in advance</a:t>
            </a:r>
          </a:p>
        </p:txBody>
      </p:sp>
      <p:pic>
        <p:nvPicPr>
          <p:cNvPr id="15" name="Picture 14" descr="two_h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292" y="2697480"/>
            <a:ext cx="7488935" cy="3566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Checked on real people (LifeSnaps Fitbit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44805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38 real users, 2,381 nights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Short night = below that person's own usual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Next-day resting HR: +0.20 SD (p = 0.0028)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HRV: -0.28 SD (p = 2.4e-05)</a:t>
            </a:r>
          </a:p>
          <a:p>
            <a:pPr>
              <a:spcAft>
                <a:spcPts val="1400"/>
              </a:spcAft>
              <a:defRPr sz="1600">
                <a:solidFill>
                  <a:srgbClr val="0F172A"/>
                </a:solidFill>
              </a:defRPr>
            </a:pPr>
            <a:r>
              <a:t>●  The twin's core idea - drift from your own normal - holds in real data</a:t>
            </a:r>
          </a:p>
        </p:txBody>
      </p:sp>
      <p:pic>
        <p:nvPicPr>
          <p:cNvPr id="7" name="Picture 6" descr="lifesna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143000"/>
            <a:ext cx="6492240" cy="32802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Outcome: three patients, three different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pic>
        <p:nvPicPr>
          <p:cNvPr id="6" name="Picture 5" descr="person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779" y="1143000"/>
            <a:ext cx="9187961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t>The twin escalates the high-risk patient, finds a problem a sleep app would miss, and stays calm for a healthy person.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The clinician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5440680" cy="4251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verview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252728"/>
            <a:ext cx="521208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</a:defRPr>
            </a:pPr>
            <a:r>
              <a:t>Overview: risk, 2-hour alert, reasons, hidden-signal flags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143000"/>
            <a:ext cx="5440680" cy="4251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hatif_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928" y="1252728"/>
            <a:ext cx="5212080" cy="3619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2200" y="5486400"/>
            <a:ext cx="5440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F172A"/>
                </a:solidFill>
              </a:defRPr>
            </a:pPr>
            <a:r>
              <a:t>What-If: move the sleep slider - risk and tomorrow's curve update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Limitations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3026663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1097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D97706"/>
                </a:solidFill>
              </a:defRPr>
            </a:pPr>
            <a:r>
              <a:t>Decision support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Not a diagnosis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The doctor stays in charge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Disclaimer on every 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474720" cy="3026663"/>
          </a:xfrm>
          <a:prstGeom prst="round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280160"/>
            <a:ext cx="3474720" cy="10972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DC2626"/>
                </a:solidFill>
              </a:defRPr>
            </a:pPr>
            <a:r>
              <a:t>Not clinically proven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Trained on virtual patients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Labels share the simulator's assumptions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Needs real-data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474720" cy="3026663"/>
          </a:xfrm>
          <a:prstGeom prst="roundRect">
            <a:avLst/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280160"/>
            <a:ext cx="3474720" cy="10972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 i="0">
                <a:solidFill>
                  <a:srgbClr val="059669"/>
                </a:solidFill>
              </a:defRPr>
            </a:pPr>
            <a:r>
              <a:t>Built safely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No real patient data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Security-hardened app + API</a:t>
            </a:r>
          </a:p>
          <a:p>
            <a:pPr>
              <a:spcAft>
                <a:spcPts val="900"/>
              </a:spcAft>
              <a:defRPr sz="1700">
                <a:solidFill>
                  <a:srgbClr val="0F172A"/>
                </a:solidFill>
              </a:defRPr>
            </a:pPr>
            <a:r>
              <a:t>✓  0 known dependency vulnerabilities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81144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t>Also: NHANES is a US population and genetic markers are simulated - Indian calibration is future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5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0F172A"/>
                </a:solidFill>
              </a:defRPr>
            </a:pPr>
            <a:r>
              <a:t>Roadmap &amp; fit with a Virtual Doctor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 i="0">
                <a:solidFill>
                  <a:srgbClr val="64748B"/>
                </a:solidFill>
              </a:defRPr>
            </a:pPr>
            <a:r>
              <a:t>SleepTwin · Team WeBareBears · PCCOE · all patient data simulated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pic>
        <p:nvPicPr>
          <p:cNvPr id="6" name="Picture 5" descr="roa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11064240" cy="41095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475569"/>
                </a:solidFill>
              </a:defRPr>
            </a:pPr>
            <a:r>
              <a:t>SleepTwin can be the between-visit 'sleep + metabolism' module of a virtual doctor: forecast tomorrow, suggest tonight's fix.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