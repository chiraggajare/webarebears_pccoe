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Introduce the team and the one-line idea.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Smartwatches record sleep nightly but don't know the wearer's medical history.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Top row: glucose path. Bottom row: blood-pressure path.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digital twin is a virtual copy of one patient, updated every 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left to right: open data, virtual patients, twin brain, dashboard; then the What-If loop.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Both streams required by the challenge are present.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persona A to show the chain: sleep drops, insulin sensitivity drops, peaks cross 180.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AUROC: chance the model ranks a real event above a quiet 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Uses current glucose, its trend, the last meal, last night's sleep and the health record.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person is compared with themselves, not with others.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values come from the live What-If engine.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 pages: Patients, Overview, Trends, What-If, How It Works.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 upfront about what the prototype does not prove.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with the one-liner.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55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828800"/>
            <a:ext cx="1097280" cy="1097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0312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6600" b="1" i="0">
                <a:solidFill>
                  <a:srgbClr val="FFFFFF"/>
                </a:solidFill>
              </a:defRPr>
            </a:pPr>
            <a:r>
              <a:t>SleepTwin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29000"/>
            <a:ext cx="10058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0" i="0">
                <a:solidFill>
                  <a:srgbClr val="E6ECFF"/>
                </a:solidFill>
              </a:defRPr>
            </a:pPr>
            <a:r>
              <a:t>A sleep-driven digital twin that forecasts tomorrow's blood-sugar spike and morning BP surge for people with Type 2 Diabetes and Hypertension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2120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 i="0">
                <a:solidFill>
                  <a:srgbClr val="FFFFFF"/>
                </a:solidFill>
              </a:defRPr>
            </a:pPr>
            <a:r>
              <a:t>Team WeBareBears  ·  PCCOE  ·  Happiest Health Digital Twin Challenge 2026 - Phase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7607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 i="1">
                <a:solidFill>
                  <a:srgbClr val="C9D6FF"/>
                </a:solidFill>
              </a:defRPr>
            </a:pPr>
            <a:r>
              <a:t>Model-based projection for clinical decision support. Research prototype.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55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 i="0">
                <a:solidFill>
                  <a:srgbClr val="0F172A"/>
                </a:solidFill>
              </a:defRPr>
            </a:pPr>
            <a:r>
              <a:t>The problem: a blind spot between visits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 i="0">
                <a:solidFill>
                  <a:srgbClr val="64748B"/>
                </a:solidFill>
              </a:defRPr>
            </a:pPr>
            <a:r>
              <a:t>SleepTwin · Team WeBareBears · PCCOE · all patient data simulated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19088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4748B"/>
                </a:solidFill>
              </a:defRPr>
            </a:pPr>
            <a: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143000"/>
            <a:ext cx="3520440" cy="1325880"/>
          </a:xfrm>
          <a:prstGeom prst="roundRect">
            <a:avLst/>
          </a:prstGeom>
          <a:solidFill>
            <a:srgbClr val="E8E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252728"/>
            <a:ext cx="3108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 i="0">
                <a:solidFill>
                  <a:srgbClr val="2554E8"/>
                </a:solidFill>
              </a:defRPr>
            </a:pPr>
            <a:r>
              <a:t>~101 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920240"/>
            <a:ext cx="3108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 i="0">
                <a:solidFill>
                  <a:srgbClr val="475569"/>
                </a:solidFill>
              </a:defRPr>
            </a:pPr>
            <a:r>
              <a:t>people with diabetes in India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79" y="1143000"/>
            <a:ext cx="3520440" cy="1325880"/>
          </a:xfrm>
          <a:prstGeom prst="roundRect">
            <a:avLst/>
          </a:prstGeom>
          <a:solidFill>
            <a:srgbClr val="E8E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26279" y="1252728"/>
            <a:ext cx="3108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 i="0">
                <a:solidFill>
                  <a:srgbClr val="2554E8"/>
                </a:solidFill>
              </a:defRPr>
            </a:pPr>
            <a:r>
              <a:t>~315 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26279" y="1920240"/>
            <a:ext cx="3108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 i="0">
                <a:solidFill>
                  <a:srgbClr val="475569"/>
                </a:solidFill>
              </a:defRPr>
            </a:pPr>
            <a:r>
              <a:t>people with hypertension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19" y="1143000"/>
            <a:ext cx="3520440" cy="1325880"/>
          </a:xfrm>
          <a:prstGeom prst="roundRect">
            <a:avLst/>
          </a:prstGeom>
          <a:solidFill>
            <a:srgbClr val="E8E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5319" y="1252728"/>
            <a:ext cx="3108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 i="0">
                <a:solidFill>
                  <a:srgbClr val="2554E8"/>
                </a:solidFill>
              </a:defRPr>
            </a:pPr>
            <a:r>
              <a:t>~15 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5319" y="1920240"/>
            <a:ext cx="3108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 i="0">
                <a:solidFill>
                  <a:srgbClr val="475569"/>
                </a:solidFill>
              </a:defRPr>
            </a:pPr>
            <a:r>
              <a:t>with a doctor every few months</a:t>
            </a:r>
          </a:p>
        </p:txBody>
      </p:sp>
      <p:pic>
        <p:nvPicPr>
          <p:cNvPr id="15" name="Picture 14" descr="blind_spo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6246" y="2697480"/>
            <a:ext cx="10189028" cy="3566159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48640" y="605332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 i="1">
                <a:solidFill>
                  <a:srgbClr val="64748B"/>
                </a:solidFill>
              </a:defRPr>
            </a:pPr>
            <a:r>
              <a:t>Source: ICMR-INDIAB, Lancet Diabetes &amp; Endocrinology 2023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55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 i="0">
                <a:solidFill>
                  <a:srgbClr val="0F172A"/>
                </a:solidFill>
              </a:defRPr>
            </a:pPr>
            <a:r>
              <a:t>Why sleep? Two paths from a bad night to tomorrow's risk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 i="0">
                <a:solidFill>
                  <a:srgbClr val="64748B"/>
                </a:solidFill>
              </a:defRPr>
            </a:pPr>
            <a:r>
              <a:t>SleepTwin · Team WeBareBears · PCCOE · all patient data simulated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19088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4748B"/>
                </a:solidFill>
              </a:defRPr>
            </a:pPr>
            <a:r>
              <a:t>3</a:t>
            </a:r>
          </a:p>
        </p:txBody>
      </p:sp>
      <p:pic>
        <p:nvPicPr>
          <p:cNvPr id="6" name="Picture 5" descr="why_sl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3460" y="1143000"/>
            <a:ext cx="10134600" cy="4343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5669280"/>
            <a:ext cx="11064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 i="0">
                <a:solidFill>
                  <a:srgbClr val="475569"/>
                </a:solidFill>
              </a:defRPr>
            </a:pPr>
            <a:r>
              <a:t>Sleep is measured every night by consumer wearables - and it can be changed tonight.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55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 i="0">
                <a:solidFill>
                  <a:srgbClr val="0F172A"/>
                </a:solidFill>
              </a:defRPr>
            </a:pPr>
            <a:r>
              <a:t>Our solution: a digital twin of each patient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 i="0">
                <a:solidFill>
                  <a:srgbClr val="64748B"/>
                </a:solidFill>
              </a:defRPr>
            </a:pPr>
            <a:r>
              <a:t>SleepTwin · Team WeBareBears · PCCOE · all patient data simulated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19088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4748B"/>
                </a:solidFill>
              </a:defRPr>
            </a:pPr>
            <a:r>
              <a:t>4</a:t>
            </a:r>
          </a:p>
        </p:txBody>
      </p:sp>
      <p:pic>
        <p:nvPicPr>
          <p:cNvPr id="6" name="Picture 5" descr="six_step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143000"/>
            <a:ext cx="11064240" cy="363539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5669280"/>
            <a:ext cx="11064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 i="0">
                <a:solidFill>
                  <a:srgbClr val="475569"/>
                </a:solidFill>
              </a:defRPr>
            </a:pPr>
            <a:r>
              <a:t>Two data streams in - the health record + daily wearable data - a personal forecast, an early warning, a reason and a tested fix out.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55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2956" y="201168"/>
            <a:ext cx="11623040" cy="6537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55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 i="0">
                <a:solidFill>
                  <a:srgbClr val="0F172A"/>
                </a:solidFill>
              </a:defRPr>
            </a:pPr>
            <a:r>
              <a:t>Two data streams + sandbox compliance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 i="0">
                <a:solidFill>
                  <a:srgbClr val="64748B"/>
                </a:solidFill>
              </a:defRPr>
            </a:pPr>
            <a:r>
              <a:t>SleepTwin · Team WeBareBears · PCCOE · all patient data simulated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19088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4748B"/>
                </a:solidFill>
              </a:defRPr>
            </a:pPr>
            <a: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280160"/>
            <a:ext cx="3474720" cy="4160520"/>
          </a:xfrm>
          <a:prstGeom prst="roundRect">
            <a:avLst/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280160"/>
            <a:ext cx="347472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55448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 i="0">
                <a:solidFill>
                  <a:srgbClr val="7C3AED"/>
                </a:solidFill>
              </a:defRPr>
            </a:pPr>
            <a:r>
              <a:t>Static: health record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19456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700">
                <a:solidFill>
                  <a:srgbClr val="0F172A"/>
                </a:solidFill>
              </a:defRPr>
            </a:pPr>
            <a:r>
              <a:t>✓  Demographics (age, sex, BMI)</a:t>
            </a:r>
          </a:p>
          <a:p>
            <a:pPr>
              <a:spcAft>
                <a:spcPts val="900"/>
              </a:spcAft>
              <a:defRPr sz="1700">
                <a:solidFill>
                  <a:srgbClr val="0F172A"/>
                </a:solidFill>
              </a:defRPr>
            </a:pPr>
            <a:r>
              <a:t>✓  Diagnoses with years</a:t>
            </a:r>
          </a:p>
          <a:p>
            <a:pPr>
              <a:spcAft>
                <a:spcPts val="900"/>
              </a:spcAft>
              <a:defRPr sz="1700">
                <a:solidFill>
                  <a:srgbClr val="0F172A"/>
                </a:solidFill>
              </a:defRPr>
            </a:pPr>
            <a:r>
              <a:t>✓  Lab results - latest + prior</a:t>
            </a:r>
          </a:p>
          <a:p>
            <a:pPr>
              <a:spcAft>
                <a:spcPts val="900"/>
              </a:spcAft>
              <a:defRPr sz="1700">
                <a:solidFill>
                  <a:srgbClr val="0F172A"/>
                </a:solidFill>
              </a:defRPr>
            </a:pPr>
            <a:r>
              <a:t>✓  Medicines</a:t>
            </a:r>
          </a:p>
          <a:p>
            <a:pPr>
              <a:spcAft>
                <a:spcPts val="900"/>
              </a:spcAft>
              <a:defRPr sz="1700">
                <a:solidFill>
                  <a:srgbClr val="0F172A"/>
                </a:solidFill>
              </a:defRPr>
            </a:pPr>
            <a:r>
              <a:t>✓  Genetic markers (simulated)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280160"/>
            <a:ext cx="3474720" cy="4160520"/>
          </a:xfrm>
          <a:prstGeom prst="roundRect">
            <a:avLst/>
          </a:prstGeom>
          <a:solidFill>
            <a:srgbClr val="E8E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1280160"/>
            <a:ext cx="3474720" cy="109728"/>
          </a:xfrm>
          <a:prstGeom prst="rect">
            <a:avLst/>
          </a:prstGeom>
          <a:solidFill>
            <a:srgbClr val="255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17720" y="155448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 i="0">
                <a:solidFill>
                  <a:srgbClr val="2554E8"/>
                </a:solidFill>
              </a:defRPr>
            </a:pPr>
            <a:r>
              <a:t>Dynamic: wearables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7720" y="219456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700">
                <a:solidFill>
                  <a:srgbClr val="0F172A"/>
                </a:solidFill>
              </a:defRPr>
            </a:pPr>
            <a:r>
              <a:t>✓  Sleep stages every 5 min</a:t>
            </a:r>
          </a:p>
          <a:p>
            <a:pPr>
              <a:spcAft>
                <a:spcPts val="900"/>
              </a:spcAft>
              <a:defRPr sz="1700">
                <a:solidFill>
                  <a:srgbClr val="0F172A"/>
                </a:solidFill>
              </a:defRPr>
            </a:pPr>
            <a:r>
              <a:t>✓  HRV + resting heart rate</a:t>
            </a:r>
          </a:p>
          <a:p>
            <a:pPr>
              <a:spcAft>
                <a:spcPts val="900"/>
              </a:spcAft>
              <a:defRPr sz="1700">
                <a:solidFill>
                  <a:srgbClr val="0F172A"/>
                </a:solidFill>
              </a:defRPr>
            </a:pPr>
            <a:r>
              <a:t>✓  Steps</a:t>
            </a:r>
          </a:p>
          <a:p>
            <a:pPr>
              <a:spcAft>
                <a:spcPts val="900"/>
              </a:spcAft>
              <a:defRPr sz="1700">
                <a:solidFill>
                  <a:srgbClr val="0F172A"/>
                </a:solidFill>
              </a:defRPr>
            </a:pPr>
            <a:r>
              <a:t>✓  Night-time oxygen dips</a:t>
            </a:r>
          </a:p>
          <a:p>
            <a:pPr>
              <a:spcAft>
                <a:spcPts val="900"/>
              </a:spcAft>
              <a:defRPr sz="1700">
                <a:solidFill>
                  <a:srgbClr val="0F172A"/>
                </a:solidFill>
              </a:defRPr>
            </a:pPr>
            <a:r>
              <a:t>✓  CGM glucose every 5 min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1280160"/>
            <a:ext cx="3474720" cy="4160520"/>
          </a:xfrm>
          <a:prstGeom prst="roundRect">
            <a:avLst/>
          </a:prstGeom>
          <a:solidFill>
            <a:srgbClr val="D1F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38160" y="1280160"/>
            <a:ext cx="3474720" cy="109728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0" y="155448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 i="0">
                <a:solidFill>
                  <a:srgbClr val="059669"/>
                </a:solidFill>
              </a:defRPr>
            </a:pPr>
            <a:r>
              <a:t>Safe data only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219456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700">
                <a:solidFill>
                  <a:srgbClr val="0F172A"/>
                </a:solidFill>
              </a:defRPr>
            </a:pPr>
            <a:r>
              <a:t>✓  300 virtual patients × 21 days</a:t>
            </a:r>
          </a:p>
          <a:p>
            <a:pPr>
              <a:spcAft>
                <a:spcPts val="900"/>
              </a:spcAft>
              <a:defRPr sz="1700">
                <a:solidFill>
                  <a:srgbClr val="0F172A"/>
                </a:solidFill>
              </a:defRPr>
            </a:pPr>
            <a:r>
              <a:t>✓  Calibrated on NHANES (public, anonymized)</a:t>
            </a:r>
          </a:p>
          <a:p>
            <a:pPr>
              <a:spcAft>
                <a:spcPts val="900"/>
              </a:spcAft>
              <a:defRPr sz="1700">
                <a:solidFill>
                  <a:srgbClr val="0F172A"/>
                </a:solidFill>
              </a:defRPr>
            </a:pPr>
            <a:r>
              <a:t>✓  Patterns from LifeSnaps (open, CC-BY-4.0)</a:t>
            </a:r>
          </a:p>
          <a:p>
            <a:pPr>
              <a:spcAft>
                <a:spcPts val="900"/>
              </a:spcAft>
              <a:defRPr sz="1700">
                <a:solidFill>
                  <a:srgbClr val="0F172A"/>
                </a:solidFill>
              </a:defRPr>
            </a:pPr>
            <a:r>
              <a:t>✓  No real patients, no personal data</a:t>
            </a:r>
          </a:p>
          <a:p>
            <a:pPr>
              <a:spcAft>
                <a:spcPts val="900"/>
              </a:spcAft>
              <a:defRPr sz="1700">
                <a:solidFill>
                  <a:srgbClr val="0F172A"/>
                </a:solidFill>
              </a:defRPr>
            </a:pPr>
            <a:r>
              <a:t>✓  Labelled 'Simulated' everywhere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7150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 i="0">
                <a:solidFill>
                  <a:srgbClr val="475569"/>
                </a:solidFill>
              </a:defRPr>
            </a:pPr>
            <a:r>
              <a:t>Cohort: T2D 37% · prediabetes 29% · hypertension 52% · sleep apnea 26% (only 5% diagnosed)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55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 i="0">
                <a:solidFill>
                  <a:srgbClr val="0F172A"/>
                </a:solidFill>
              </a:defRPr>
            </a:pPr>
            <a:r>
              <a:t>The simulator: how sleep reaches blood sugar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 i="0">
                <a:solidFill>
                  <a:srgbClr val="64748B"/>
                </a:solidFill>
              </a:defRPr>
            </a:pPr>
            <a:r>
              <a:t>SleepTwin · Team WeBareBears · PCCOE · all patient data simulated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19088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4748B"/>
                </a:solidFill>
              </a:defRPr>
            </a:pPr>
            <a: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44805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>
                <a:solidFill>
                  <a:srgbClr val="0F172A"/>
                </a:solidFill>
              </a:defRPr>
            </a:pPr>
            <a:r>
              <a:t>●  Sleep debt = last 7 nights' shortfall, recent nights count more</a:t>
            </a:r>
          </a:p>
          <a:p>
            <a:pPr>
              <a:spcAft>
                <a:spcPts val="1400"/>
              </a:spcAft>
              <a:defRPr sz="1600">
                <a:solidFill>
                  <a:srgbClr val="0F172A"/>
                </a:solidFill>
              </a:defRPr>
            </a:pPr>
            <a:r>
              <a:t>●  4 nights of 5 h → insulin sensitivity −25% (matches sleep studies)</a:t>
            </a:r>
          </a:p>
          <a:p>
            <a:pPr>
              <a:spcAft>
                <a:spcPts val="1400"/>
              </a:spcAft>
              <a:defRPr sz="1600">
                <a:solidFill>
                  <a:srgbClr val="0F172A"/>
                </a:solidFill>
              </a:defRPr>
            </a:pPr>
            <a:r>
              <a:t>●  Bergman glucose model turns meals + insulin sensitivity into CGM every 5 min</a:t>
            </a:r>
          </a:p>
          <a:p>
            <a:pPr>
              <a:spcAft>
                <a:spcPts val="1400"/>
              </a:spcAft>
              <a:defRPr sz="1600">
                <a:solidFill>
                  <a:srgbClr val="0F172A"/>
                </a:solidFill>
              </a:defRPr>
            </a:pPr>
            <a:r>
              <a:t>●  Beta-blockers hide the heart-rate signal - HRV still shows the strain</a:t>
            </a:r>
          </a:p>
          <a:p>
            <a:pPr>
              <a:spcAft>
                <a:spcPts val="1400"/>
              </a:spcAft>
              <a:defRPr sz="1600">
                <a:solidFill>
                  <a:srgbClr val="0F172A"/>
                </a:solidFill>
              </a:defRPr>
            </a:pPr>
            <a:r>
              <a:t>●  Honest limit: labels come from the same simulator</a:t>
            </a:r>
          </a:p>
        </p:txBody>
      </p:sp>
      <p:pic>
        <p:nvPicPr>
          <p:cNvPr id="7" name="Picture 6" descr="persona_sto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2080" y="1143000"/>
            <a:ext cx="6492240" cy="492043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55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 i="0">
                <a:solidFill>
                  <a:srgbClr val="0F172A"/>
                </a:solidFill>
              </a:defRPr>
            </a:pPr>
            <a:r>
              <a:t>Does combining both data streams help? Yes.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 i="0">
                <a:solidFill>
                  <a:srgbClr val="64748B"/>
                </a:solidFill>
              </a:defRPr>
            </a:pPr>
            <a:r>
              <a:t>SleepTwin · Team WeBareBears · PCCOE · all patient data simulated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19088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4748B"/>
                </a:solidFill>
              </a:defRPr>
            </a:pPr>
            <a:r>
              <a:t>8</a:t>
            </a:r>
          </a:p>
        </p:txBody>
      </p:sp>
      <p:pic>
        <p:nvPicPr>
          <p:cNvPr id="6" name="Picture 5" descr="abl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14921" y="1143000"/>
            <a:ext cx="8531678" cy="4343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5669280"/>
            <a:ext cx="11064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 i="0">
                <a:solidFill>
                  <a:srgbClr val="475569"/>
                </a:solidFill>
              </a:defRPr>
            </a:pPr>
            <a:r>
              <a:t>2,100 patient-days, tested only on patients the model never saw (GroupKFold by patient). The gain is largest for diabetics - the same night means more for a high-risk patient.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55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 i="0">
                <a:solidFill>
                  <a:srgbClr val="0F172A"/>
                </a:solidFill>
              </a:defRPr>
            </a:pPr>
            <a:r>
              <a:t>2-hour early warning for glucose spikes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 i="0">
                <a:solidFill>
                  <a:srgbClr val="64748B"/>
                </a:solidFill>
              </a:defRPr>
            </a:pPr>
            <a:r>
              <a:t>SleepTwin · Team WeBareBears · PCCOE · all patient data simulated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19088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4748B"/>
                </a:solidFill>
              </a:defRPr>
            </a:pPr>
            <a:r>
              <a:t>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143000"/>
            <a:ext cx="3520440" cy="1325880"/>
          </a:xfrm>
          <a:prstGeom prst="roundRect">
            <a:avLst/>
          </a:prstGeom>
          <a:solidFill>
            <a:srgbClr val="E8E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252728"/>
            <a:ext cx="3108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 i="0">
                <a:solidFill>
                  <a:srgbClr val="2554E8"/>
                </a:solidFill>
              </a:defRPr>
            </a:pPr>
            <a:r>
              <a:t>70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920240"/>
            <a:ext cx="3108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 i="0">
                <a:solidFill>
                  <a:srgbClr val="475569"/>
                </a:solidFill>
              </a:defRPr>
            </a:pPr>
            <a:r>
              <a:t>median warning before a spike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79" y="1143000"/>
            <a:ext cx="3520440" cy="1325880"/>
          </a:xfrm>
          <a:prstGeom prst="roundRect">
            <a:avLst/>
          </a:prstGeom>
          <a:solidFill>
            <a:srgbClr val="E8E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26279" y="1252728"/>
            <a:ext cx="3108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 i="0">
                <a:solidFill>
                  <a:srgbClr val="2554E8"/>
                </a:solidFill>
              </a:defRPr>
            </a:pPr>
            <a:r>
              <a:t>0.95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26279" y="1920240"/>
            <a:ext cx="3108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 i="0">
                <a:solidFill>
                  <a:srgbClr val="475569"/>
                </a:solidFill>
              </a:defRPr>
            </a:pPr>
            <a:r>
              <a:t>accuracy (AUROC) vs 0.79 for a plain trend arrow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19" y="1143000"/>
            <a:ext cx="3520440" cy="1325880"/>
          </a:xfrm>
          <a:prstGeom prst="roundRect">
            <a:avLst/>
          </a:prstGeom>
          <a:solidFill>
            <a:srgbClr val="E8E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5319" y="1252728"/>
            <a:ext cx="3108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 i="0">
                <a:solidFill>
                  <a:srgbClr val="2554E8"/>
                </a:solidFill>
              </a:defRPr>
            </a:pPr>
            <a:r>
              <a:t>60%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5319" y="1920240"/>
            <a:ext cx="3108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 i="0">
                <a:solidFill>
                  <a:srgbClr val="475569"/>
                </a:solidFill>
              </a:defRPr>
            </a:pPr>
            <a:r>
              <a:t>of spikes warned in advance</a:t>
            </a:r>
          </a:p>
        </p:txBody>
      </p:sp>
      <p:pic>
        <p:nvPicPr>
          <p:cNvPr id="15" name="Picture 14" descr="two_hou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36292" y="2697480"/>
            <a:ext cx="7488935" cy="3566159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55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 i="0">
                <a:solidFill>
                  <a:srgbClr val="0F172A"/>
                </a:solidFill>
              </a:defRPr>
            </a:pPr>
            <a:r>
              <a:t>Checked on real people (LifeSnaps Fitbit data)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 i="0">
                <a:solidFill>
                  <a:srgbClr val="64748B"/>
                </a:solidFill>
              </a:defRPr>
            </a:pPr>
            <a:r>
              <a:t>SleepTwin · Team WeBareBears · PCCOE · all patient data simulated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19088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4748B"/>
                </a:solidFill>
              </a:defRPr>
            </a:pPr>
            <a: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44805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>
                <a:solidFill>
                  <a:srgbClr val="0F172A"/>
                </a:solidFill>
              </a:defRPr>
            </a:pPr>
            <a:r>
              <a:t>●  38 real users, 2,381 nights</a:t>
            </a:r>
          </a:p>
          <a:p>
            <a:pPr>
              <a:spcAft>
                <a:spcPts val="1400"/>
              </a:spcAft>
              <a:defRPr sz="1600">
                <a:solidFill>
                  <a:srgbClr val="0F172A"/>
                </a:solidFill>
              </a:defRPr>
            </a:pPr>
            <a:r>
              <a:t>●  Short night = below that person's own usual</a:t>
            </a:r>
          </a:p>
          <a:p>
            <a:pPr>
              <a:spcAft>
                <a:spcPts val="1400"/>
              </a:spcAft>
              <a:defRPr sz="1600">
                <a:solidFill>
                  <a:srgbClr val="0F172A"/>
                </a:solidFill>
              </a:defRPr>
            </a:pPr>
            <a:r>
              <a:t>●  Next-day resting HR: +0.20 SD (p = 0.0028)</a:t>
            </a:r>
          </a:p>
          <a:p>
            <a:pPr>
              <a:spcAft>
                <a:spcPts val="1400"/>
              </a:spcAft>
              <a:defRPr sz="1600">
                <a:solidFill>
                  <a:srgbClr val="0F172A"/>
                </a:solidFill>
              </a:defRPr>
            </a:pPr>
            <a:r>
              <a:t>●  HRV: -0.28 SD (p = 2.4e-05)</a:t>
            </a:r>
          </a:p>
          <a:p>
            <a:pPr>
              <a:spcAft>
                <a:spcPts val="1400"/>
              </a:spcAft>
              <a:defRPr sz="1600">
                <a:solidFill>
                  <a:srgbClr val="0F172A"/>
                </a:solidFill>
              </a:defRPr>
            </a:pPr>
            <a:r>
              <a:t>●  The twin's core idea - drift from your own normal - holds in real data</a:t>
            </a:r>
          </a:p>
        </p:txBody>
      </p:sp>
      <p:pic>
        <p:nvPicPr>
          <p:cNvPr id="7" name="Picture 6" descr="lifesnap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2080" y="1143000"/>
            <a:ext cx="6492240" cy="3280289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55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 i="0">
                <a:solidFill>
                  <a:srgbClr val="0F172A"/>
                </a:solidFill>
              </a:defRPr>
            </a:pPr>
            <a:r>
              <a:t>Outcome: three patients, three different answers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 i="0">
                <a:solidFill>
                  <a:srgbClr val="64748B"/>
                </a:solidFill>
              </a:defRPr>
            </a:pPr>
            <a:r>
              <a:t>SleepTwin · Team WeBareBears · PCCOE · all patient data simulated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19088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4748B"/>
                </a:solidFill>
              </a:defRPr>
            </a:pPr>
            <a:r>
              <a:t>11</a:t>
            </a:r>
          </a:p>
        </p:txBody>
      </p:sp>
      <p:pic>
        <p:nvPicPr>
          <p:cNvPr id="6" name="Picture 5" descr="person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6779" y="1143000"/>
            <a:ext cx="9187961" cy="4343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5669280"/>
            <a:ext cx="11064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 i="0">
                <a:solidFill>
                  <a:srgbClr val="475569"/>
                </a:solidFill>
              </a:defRPr>
            </a:pPr>
            <a:r>
              <a:t>The twin escalates the high-risk patient, finds a problem a sleep app would miss, and stays calm for a healthy person.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55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 i="0">
                <a:solidFill>
                  <a:srgbClr val="0F172A"/>
                </a:solidFill>
              </a:defRPr>
            </a:pPr>
            <a:r>
              <a:t>The clinician dashboard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 i="0">
                <a:solidFill>
                  <a:srgbClr val="64748B"/>
                </a:solidFill>
              </a:defRPr>
            </a:pPr>
            <a:r>
              <a:t>SleepTwin · Team WeBareBears · PCCOE · all patient data simulated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19088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4748B"/>
                </a:solidFill>
              </a:defRPr>
            </a:pPr>
            <a:r>
              <a:t>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143000"/>
            <a:ext cx="5440680" cy="42519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5486400"/>
            <a:ext cx="5440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 i="0">
                <a:solidFill>
                  <a:srgbClr val="0F172A"/>
                </a:solidFill>
              </a:defRPr>
            </a:pPr>
            <a:r>
              <a:t>Overview: risk, 2-hour alert, reasons, hidden-signal flags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43000"/>
            <a:ext cx="5440680" cy="42519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72200" y="5486400"/>
            <a:ext cx="5440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 i="0">
                <a:solidFill>
                  <a:srgbClr val="0F172A"/>
                </a:solidFill>
              </a:defRPr>
            </a:pPr>
            <a:r>
              <a:t>What-If: move the sleep slider - risk and tomorrow's curve update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55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 i="0">
                <a:solidFill>
                  <a:srgbClr val="0F172A"/>
                </a:solidFill>
              </a:defRPr>
            </a:pPr>
            <a:r>
              <a:t>Limitations &amp; safety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 i="0">
                <a:solidFill>
                  <a:srgbClr val="64748B"/>
                </a:solidFill>
              </a:defRPr>
            </a:pPr>
            <a:r>
              <a:t>SleepTwin · Team WeBareBears · PCCOE · all patient data simulated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19088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4748B"/>
                </a:solidFill>
              </a:defRPr>
            </a:pPr>
            <a:r>
              <a:t>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280160"/>
            <a:ext cx="3474720" cy="3026663"/>
          </a:xfrm>
          <a:prstGeom prst="round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280160"/>
            <a:ext cx="3474720" cy="109728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55448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 i="0">
                <a:solidFill>
                  <a:srgbClr val="D97706"/>
                </a:solidFill>
              </a:defRPr>
            </a:pPr>
            <a:r>
              <a:t>Decision support only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19456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700">
                <a:solidFill>
                  <a:srgbClr val="0F172A"/>
                </a:solidFill>
              </a:defRPr>
            </a:pPr>
            <a:r>
              <a:t>✓  Not a diagnosis</a:t>
            </a:r>
          </a:p>
          <a:p>
            <a:pPr>
              <a:spcAft>
                <a:spcPts val="900"/>
              </a:spcAft>
              <a:defRPr sz="1700">
                <a:solidFill>
                  <a:srgbClr val="0F172A"/>
                </a:solidFill>
              </a:defRPr>
            </a:pPr>
            <a:r>
              <a:t>✓  The doctor stays in charge</a:t>
            </a:r>
          </a:p>
          <a:p>
            <a:pPr>
              <a:spcAft>
                <a:spcPts val="900"/>
              </a:spcAft>
              <a:defRPr sz="1700">
                <a:solidFill>
                  <a:srgbClr val="0F172A"/>
                </a:solidFill>
              </a:defRPr>
            </a:pPr>
            <a:r>
              <a:t>✓  Disclaimer on every screen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280160"/>
            <a:ext cx="3474720" cy="3026663"/>
          </a:xfrm>
          <a:prstGeom prst="roundRect">
            <a:avLst/>
          </a:prstGeom>
          <a:solidFill>
            <a:srgbClr val="FE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1280160"/>
            <a:ext cx="3474720" cy="109728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17720" y="155448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 i="0">
                <a:solidFill>
                  <a:srgbClr val="DC2626"/>
                </a:solidFill>
              </a:defRPr>
            </a:pPr>
            <a:r>
              <a:t>Not clinically proven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7720" y="219456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700">
                <a:solidFill>
                  <a:srgbClr val="0F172A"/>
                </a:solidFill>
              </a:defRPr>
            </a:pPr>
            <a:r>
              <a:t>✓  Trained on virtual patients</a:t>
            </a:r>
          </a:p>
          <a:p>
            <a:pPr>
              <a:spcAft>
                <a:spcPts val="900"/>
              </a:spcAft>
              <a:defRPr sz="1700">
                <a:solidFill>
                  <a:srgbClr val="0F172A"/>
                </a:solidFill>
              </a:defRPr>
            </a:pPr>
            <a:r>
              <a:t>✓  Labels share the simulator's assumptions</a:t>
            </a:r>
          </a:p>
          <a:p>
            <a:pPr>
              <a:spcAft>
                <a:spcPts val="900"/>
              </a:spcAft>
              <a:defRPr sz="1700">
                <a:solidFill>
                  <a:srgbClr val="0F172A"/>
                </a:solidFill>
              </a:defRPr>
            </a:pPr>
            <a:r>
              <a:t>✓  Needs real-data validation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1280160"/>
            <a:ext cx="3474720" cy="3026663"/>
          </a:xfrm>
          <a:prstGeom prst="roundRect">
            <a:avLst/>
          </a:prstGeom>
          <a:solidFill>
            <a:srgbClr val="D1F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38160" y="1280160"/>
            <a:ext cx="3474720" cy="109728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0" y="155448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 i="0">
                <a:solidFill>
                  <a:srgbClr val="059669"/>
                </a:solidFill>
              </a:defRPr>
            </a:pPr>
            <a:r>
              <a:t>Built safely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219456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700">
                <a:solidFill>
                  <a:srgbClr val="0F172A"/>
                </a:solidFill>
              </a:defRPr>
            </a:pPr>
            <a:r>
              <a:t>✓  No real patient data</a:t>
            </a:r>
          </a:p>
          <a:p>
            <a:pPr>
              <a:spcAft>
                <a:spcPts val="900"/>
              </a:spcAft>
              <a:defRPr sz="1700">
                <a:solidFill>
                  <a:srgbClr val="0F172A"/>
                </a:solidFill>
              </a:defRPr>
            </a:pPr>
            <a:r>
              <a:t>✓  Security-hardened app + API</a:t>
            </a:r>
          </a:p>
          <a:p>
            <a:pPr>
              <a:spcAft>
                <a:spcPts val="900"/>
              </a:spcAft>
              <a:defRPr sz="1700">
                <a:solidFill>
                  <a:srgbClr val="0F172A"/>
                </a:solidFill>
              </a:defRPr>
            </a:pPr>
            <a:r>
              <a:t>✓  0 known dependency vulnerabilities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581144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 i="0">
                <a:solidFill>
                  <a:srgbClr val="475569"/>
                </a:solidFill>
              </a:defRPr>
            </a:pPr>
            <a:r>
              <a:t>Also: NHANES is a US population and genetic markers are simulated - Indian calibration is future work.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55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 i="0">
                <a:solidFill>
                  <a:srgbClr val="0F172A"/>
                </a:solidFill>
              </a:defRPr>
            </a:pPr>
            <a:r>
              <a:t>Roadmap &amp; fit with a Virtual Doctor Programme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 i="0">
                <a:solidFill>
                  <a:srgbClr val="64748B"/>
                </a:solidFill>
              </a:defRPr>
            </a:pPr>
            <a:r>
              <a:t>SleepTwin · Team WeBareBears · PCCOE · all patient data simulated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19088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4748B"/>
                </a:solidFill>
              </a:defRPr>
            </a:pPr>
            <a:r>
              <a:t>14</a:t>
            </a:r>
          </a:p>
        </p:txBody>
      </p:sp>
      <p:pic>
        <p:nvPicPr>
          <p:cNvPr id="6" name="Picture 5" descr="road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143000"/>
            <a:ext cx="11064240" cy="410957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5669280"/>
            <a:ext cx="11064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 i="0">
                <a:solidFill>
                  <a:srgbClr val="475569"/>
                </a:solidFill>
              </a:defRPr>
            </a:pPr>
            <a:r>
              <a:t>SleepTwin can be the between-visit 'sleep + metabolism' module of a virtual doctor: forecast tomorrow, suggest tonight's fix.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